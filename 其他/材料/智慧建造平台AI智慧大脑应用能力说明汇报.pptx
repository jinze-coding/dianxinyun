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1" r:id="rId48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1" Type="http://schemas.openxmlformats.org/officeDocument/2006/relationships/tableStyles" Target="tableStyles.xml"/><Relationship Id="rId50" Type="http://schemas.openxmlformats.org/officeDocument/2006/relationships/viewProps" Target="viewProps.xml"/><Relationship Id="rId5" Type="http://schemas.openxmlformats.org/officeDocument/2006/relationships/slide" Target="slides/slide2.xml"/><Relationship Id="rId49" Type="http://schemas.openxmlformats.org/officeDocument/2006/relationships/presProps" Target="presProps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58368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D8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智慧建造平台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8046720" cy="10058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智慧大脑应用能力说明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7863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7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面向项目现场岗位工作流的 AI 应用能力预览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160520"/>
            <a:ext cx="8778240" cy="82296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我们建议以“智慧大脑 + 岗位助手”的方式，将 AI 能力嵌入项目管理、视频监控、人员安全、资料管理、设备运维和多项目决策。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5349240"/>
            <a:ext cx="384048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559612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D8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汇报版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155680" y="6492240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3093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智慧建造平台 AI 智慧大脑应用能力说明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11201400" cy="0"/>
          </a:xfrm>
          <a:prstGeom prst="line">
            <a:avLst/>
          </a:prstGeom>
          <a:noFill/>
          <a:ln w="10160">
            <a:solidFill>
              <a:srgbClr val="DDE5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7315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76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00200" y="1399032"/>
            <a:ext cx="3566160" cy="32004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建设定位与总体架构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00200" y="1746504"/>
            <a:ext cx="8961120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智慧大脑不是单点AI，而是数据、分析、决策与业务闭环能力。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00200" y="2121408"/>
            <a:ext cx="9418320" cy="0"/>
          </a:xfrm>
          <a:prstGeom prst="line">
            <a:avLst/>
          </a:prstGeom>
          <a:noFill/>
          <a:ln w="7620">
            <a:solidFill>
              <a:srgbClr val="DDE5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404872"/>
            <a:ext cx="7315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76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00200" y="2386584"/>
            <a:ext cx="3566160" cy="32004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AI通用应用能力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00200" y="2734056"/>
            <a:ext cx="8961120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项目问答、简报生成、资料归档、视频合规、风险预警等。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600200" y="3108960"/>
            <a:ext cx="9418320" cy="0"/>
          </a:xfrm>
          <a:prstGeom prst="line">
            <a:avLst/>
          </a:prstGeom>
          <a:noFill/>
          <a:ln w="7620">
            <a:solidFill>
              <a:srgbClr val="DDE5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392424"/>
            <a:ext cx="7315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76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00200" y="3374136"/>
            <a:ext cx="3566160" cy="32004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岗位型AI工作助手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00200" y="3721608"/>
            <a:ext cx="8961120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面向项目经理、安全员、资料员、施工员等角色嵌入AI能力。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600200" y="4096512"/>
            <a:ext cx="9418320" cy="0"/>
          </a:xfrm>
          <a:prstGeom prst="line">
            <a:avLst/>
          </a:prstGeom>
          <a:noFill/>
          <a:ln w="7620">
            <a:solidFill>
              <a:srgbClr val="DDE5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379976"/>
            <a:ext cx="7315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76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00200" y="4361688"/>
            <a:ext cx="3566160" cy="32004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系统落地支撑机制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600200" y="4709160"/>
            <a:ext cx="8961120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接口查询、权限控制、人工确认、业务页面嵌入。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600200" y="5084064"/>
            <a:ext cx="9418320" cy="0"/>
          </a:xfrm>
          <a:prstGeom prst="line">
            <a:avLst/>
          </a:prstGeom>
          <a:noFill/>
          <a:ln w="7620">
            <a:solidFill>
              <a:srgbClr val="DDE5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5367528"/>
            <a:ext cx="7315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76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600200" y="5349240"/>
            <a:ext cx="3566160" cy="32004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总体汇报口径与内容核对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00200" y="5696712"/>
            <a:ext cx="8961120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形成未来系统AI能力全景与落地说明。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600200" y="6071616"/>
            <a:ext cx="9418320" cy="0"/>
          </a:xfrm>
          <a:prstGeom prst="line">
            <a:avLst/>
          </a:prstGeom>
          <a:noFill/>
          <a:ln w="7620">
            <a:solidFill>
              <a:srgbClr val="DDE5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155680" y="6492240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7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274A"/>
          </a:solidFill>
          <a:ln w="12700">
            <a:solidFill>
              <a:srgbClr val="0927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143000"/>
            <a:ext cx="11887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FD8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874520"/>
            <a:ext cx="941832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建设定位与总体架构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13232" y="2788920"/>
            <a:ext cx="8961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7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 AI 从“单点功能”建设为服务项目现场管理的智慧大脑。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13232" y="3401568"/>
            <a:ext cx="4206240" cy="0"/>
          </a:xfrm>
          <a:prstGeom prst="line">
            <a:avLst/>
          </a:prstGeom>
          <a:noFill/>
          <a:ln w="3175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0" y="6492240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3093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建设定位与总体架构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11201400" cy="0"/>
          </a:xfrm>
          <a:prstGeom prst="line">
            <a:avLst/>
          </a:prstGeom>
          <a:noFill/>
          <a:ln w="10160">
            <a:solidFill>
              <a:srgbClr val="DDE5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建设定位：AI 智慧大脑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10607040" cy="452628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我们建议后续平台中的 AI 能力建设为面向项目现场管理的 AI 智慧大脑。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智慧大脑围绕项目经理、安全员、资料员、施工员、质量员、机械员、劳务员、标准员和管理层等角色的日常工作展开。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AI作为岗位工作助手，辅助开展数据查询、资料整理、风险识别、报告生成、合规检查和整改建议，关键业务由岗位人员确认。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智慧大脑的最终目标，是让平台从“展示数据”升级为“理解数据、分析问题、提示风险、辅助决策、推动闭环”。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155680" y="6492240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3093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建设定位与总体架构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11201400" cy="0"/>
          </a:xfrm>
          <a:prstGeom prst="line">
            <a:avLst/>
          </a:prstGeom>
          <a:noFill/>
          <a:ln w="10160">
            <a:solidFill>
              <a:srgbClr val="DDE5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总体设计逻辑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10607040" cy="452628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从岗位职责出发，梳理各岗位真实工作内容。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从日常工作中识别重复性、统计性、整理性、提醒性任务。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接入系统已有数据，包括项目、视频、人员、资料、设备、BIM和智能装备数据。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由AI辅助分析、汇总、生成、提醒，最终由人工确认并形成业务闭环。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155680" y="6492240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3093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建设定位与总体架构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11201400" cy="0"/>
          </a:xfrm>
          <a:prstGeom prst="line">
            <a:avLst/>
          </a:prstGeom>
          <a:noFill/>
          <a:ln w="10160">
            <a:solidFill>
              <a:srgbClr val="DDE5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智慧大脑总体能力架构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1371600"/>
            <a:ext cx="103327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572768"/>
            <a:ext cx="320040" cy="256032"/>
          </a:xfrm>
          <a:prstGeom prst="rect">
            <a:avLst/>
          </a:prstGeom>
          <a:solidFill>
            <a:srgbClr val="1769E0"/>
          </a:solidFill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72768" y="1536192"/>
            <a:ext cx="1965960" cy="27432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6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数据接入层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11880" y="1527048"/>
            <a:ext cx="7223760" cy="29260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项目、视频、人员、安全、资料、设备、BIM、智能装备数据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14400" y="2249424"/>
            <a:ext cx="10332720" cy="749808"/>
          </a:xfrm>
          <a:prstGeom prst="roundRect">
            <a:avLst>
              <a:gd name="adj" fmla="val 7317"/>
            </a:avLst>
          </a:prstGeom>
          <a:solidFill>
            <a:srgbClr val="EAF2FF"/>
          </a:solidFill>
          <a:ln w="7620">
            <a:solidFill>
              <a:srgbClr val="DDE5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2450592"/>
            <a:ext cx="320040" cy="256032"/>
          </a:xfrm>
          <a:prstGeom prst="rect">
            <a:avLst/>
          </a:prstGeom>
          <a:solidFill>
            <a:srgbClr val="1769E0"/>
          </a:solidFill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72768" y="2414016"/>
            <a:ext cx="1965960" cy="27432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6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数据治理层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11880" y="2404872"/>
            <a:ext cx="7223760" cy="29260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数据标准化、台账标准化、资料分类、状态编码、风险事件归档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4400" y="3127248"/>
            <a:ext cx="103327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5568" y="3328416"/>
            <a:ext cx="320040" cy="256032"/>
          </a:xfrm>
          <a:prstGeom prst="rect">
            <a:avLst/>
          </a:prstGeom>
          <a:solidFill>
            <a:srgbClr val="1769E0"/>
          </a:solidFill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72768" y="3291840"/>
            <a:ext cx="1965960" cy="27432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6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AI能力层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11880" y="3282696"/>
            <a:ext cx="7223760" cy="29260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大语言模型、OCR、多模态图像理解、视觉算法、知识库、规则引擎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14400" y="4005072"/>
            <a:ext cx="10332720" cy="749808"/>
          </a:xfrm>
          <a:prstGeom prst="roundRect">
            <a:avLst>
              <a:gd name="adj" fmla="val 7317"/>
            </a:avLst>
          </a:prstGeom>
          <a:solidFill>
            <a:srgbClr val="EAF2FF"/>
          </a:solidFill>
          <a:ln w="7620">
            <a:solidFill>
              <a:srgbClr val="DDE5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5568" y="4206240"/>
            <a:ext cx="320040" cy="256032"/>
          </a:xfrm>
          <a:prstGeom prst="rect">
            <a:avLst/>
          </a:prstGeom>
          <a:solidFill>
            <a:srgbClr val="1769E0"/>
          </a:solidFill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72768" y="4169664"/>
            <a:ext cx="1965960" cy="27432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6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业务应用层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611880" y="4160520"/>
            <a:ext cx="7223760" cy="29260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项目问答、简报、资料归档、视频合规、视频巡查、风险预警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14400" y="4882896"/>
            <a:ext cx="103327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5568" y="5084064"/>
            <a:ext cx="320040" cy="256032"/>
          </a:xfrm>
          <a:prstGeom prst="rect">
            <a:avLst/>
          </a:prstGeom>
          <a:solidFill>
            <a:srgbClr val="1769E0"/>
          </a:solidFill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72768" y="5047488"/>
            <a:ext cx="1965960" cy="27432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6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岗位工作台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611880" y="5038344"/>
            <a:ext cx="7223760" cy="29260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项目经理、安全员、资料员、施工员、质量员、机械员、劳务员、管理层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13232" y="6199632"/>
            <a:ext cx="10424160" cy="237744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我们建议将 AI 能力建设为可接入、可治理、可分析、可嵌入岗位工作流的系统中枢。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155680" y="6492240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3093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建设定位与总体架构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11201400" cy="0"/>
          </a:xfrm>
          <a:prstGeom prst="line">
            <a:avLst/>
          </a:prstGeom>
          <a:noFill/>
          <a:ln w="10160">
            <a:solidFill>
              <a:srgbClr val="DDE5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AI能力建设的基本原则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" y="1389888"/>
            <a:ext cx="3246120" cy="470916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664208"/>
            <a:ext cx="45720" cy="228600"/>
          </a:xfrm>
          <a:prstGeom prst="rect">
            <a:avLst/>
          </a:prstGeom>
          <a:solidFill>
            <a:srgbClr val="1769E0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655064"/>
            <a:ext cx="263347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6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业务真实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157984"/>
            <a:ext cx="2606040" cy="361188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围绕项目现场管理真实工作设计AI能力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不做脱离业务的概念展示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所有功能都应对应数据来源和使用场景</a:t>
            </a:r>
            <a:endParaRPr lang="en-US" sz="1140" dirty="0"/>
          </a:p>
        </p:txBody>
      </p:sp>
      <p:sp>
        <p:nvSpPr>
          <p:cNvPr id="9" name="Shape 7"/>
          <p:cNvSpPr/>
          <p:nvPr/>
        </p:nvSpPr>
        <p:spPr>
          <a:xfrm>
            <a:off x="4160520" y="1389888"/>
            <a:ext cx="3246120" cy="470916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34840" y="1664208"/>
            <a:ext cx="45720" cy="228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1655064"/>
            <a:ext cx="263347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安全可控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80560" y="2157984"/>
            <a:ext cx="2606040" cy="361188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AI不直接访问数据库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所有数据查询通过后端授权接口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敏感字段过滤、项目权限隔离、操作留痕</a:t>
            </a:r>
            <a:endParaRPr lang="en-US" sz="1140" dirty="0"/>
          </a:p>
        </p:txBody>
      </p:sp>
      <p:sp>
        <p:nvSpPr>
          <p:cNvPr id="13" name="Shape 11"/>
          <p:cNvSpPr/>
          <p:nvPr/>
        </p:nvSpPr>
        <p:spPr>
          <a:xfrm>
            <a:off x="7726680" y="1389888"/>
            <a:ext cx="3246120" cy="470916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01000" y="1664208"/>
            <a:ext cx="4572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10728" y="1655064"/>
            <a:ext cx="263347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人工确认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0" y="2157984"/>
            <a:ext cx="2606040" cy="361188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AI负责辅助分析与生成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关键判断由岗位人员确认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问题整改、复查、归档形成闭环</a:t>
            </a:r>
            <a:endParaRPr lang="en-US" sz="1140" dirty="0"/>
          </a:p>
        </p:txBody>
      </p:sp>
      <p:sp>
        <p:nvSpPr>
          <p:cNvPr id="17" name="Text 15"/>
          <p:cNvSpPr/>
          <p:nvPr/>
        </p:nvSpPr>
        <p:spPr>
          <a:xfrm>
            <a:off x="11155680" y="6492240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143000"/>
            <a:ext cx="11887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FD8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874520"/>
            <a:ext cx="941832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通用应用能力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13232" y="2788920"/>
            <a:ext cx="8961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7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围绕项目问答、报告生成、资料归档、视频合规、巡查分析、风险预警等能力展开。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13232" y="3401568"/>
            <a:ext cx="4206240" cy="0"/>
          </a:xfrm>
          <a:prstGeom prst="line">
            <a:avLst/>
          </a:prstGeom>
          <a:noFill/>
          <a:ln w="3175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0" y="6492240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3093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AI 通用应用能力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11201400" cy="0"/>
          </a:xfrm>
          <a:prstGeom prst="line">
            <a:avLst/>
          </a:prstGeom>
          <a:noFill/>
          <a:ln w="10160">
            <a:solidFill>
              <a:srgbClr val="DDE5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AI项目问答助手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53949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0" y="1325880"/>
            <a:ext cx="525780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3502152"/>
            <a:ext cx="5394960" cy="2578608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0" y="3502152"/>
            <a:ext cx="5257800" cy="2578608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1600200"/>
            <a:ext cx="45720" cy="228600"/>
          </a:xfrm>
          <a:prstGeom prst="rect">
            <a:avLst/>
          </a:prstGeom>
          <a:solidFill>
            <a:srgbClr val="1769E0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591056"/>
            <a:ext cx="464515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6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能力说明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92240" y="1600200"/>
            <a:ext cx="45720" cy="228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01968" y="1591056"/>
            <a:ext cx="450799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可辅助工作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3776472"/>
            <a:ext cx="4572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3767328"/>
            <a:ext cx="464515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落地实现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92240" y="3776472"/>
            <a:ext cx="45720" cy="228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01968" y="3767328"/>
            <a:ext cx="450799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C3A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数据依赖 / 输出成果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2029968"/>
            <a:ext cx="4709160" cy="93268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支持自然语言查询项目、摄像头、人员、安全、资料、设备等状态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用户可直接询问离线摄像头、视频合规、安全教育、资料上传等问题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系统将项目数据转化为可理解的自然语言回答</a:t>
            </a:r>
            <a:endParaRPr lang="en-US" sz="1070" dirty="0"/>
          </a:p>
        </p:txBody>
      </p:sp>
      <p:sp>
        <p:nvSpPr>
          <p:cNvPr id="18" name="Text 16"/>
          <p:cNvSpPr/>
          <p:nvPr/>
        </p:nvSpPr>
        <p:spPr>
          <a:xfrm>
            <a:off x="6492240" y="2029968"/>
            <a:ext cx="4617720" cy="93268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辅助项目经理、管理层、安全员快速获取项目状态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减少逐页查找和手工汇总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形成异常说明和处理建议</a:t>
            </a:r>
            <a:endParaRPr lang="en-US" sz="1070" dirty="0"/>
          </a:p>
        </p:txBody>
      </p:sp>
      <p:sp>
        <p:nvSpPr>
          <p:cNvPr id="19" name="Text 17"/>
          <p:cNvSpPr/>
          <p:nvPr/>
        </p:nvSpPr>
        <p:spPr>
          <a:xfrm>
            <a:off x="914400" y="4206240"/>
            <a:ext cx="4709160" cy="141732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建立项目概况、摄像头、安全教育、资料、设备等查询接口</a:t>
            </a:r>
            <a:endParaRPr lang="en-US" sz="1040" dirty="0"/>
          </a:p>
          <a:p>
            <a:pPr marL="0" indent="0" algn="l">
              <a:buNone/>
            </a:pPr>
            <a:r>
              <a:rPr lang="en-US" sz="10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AI通过后端授权工具查询数据，不直接访问数据库</a:t>
            </a:r>
            <a:endParaRPr lang="en-US" sz="1040" dirty="0"/>
          </a:p>
          <a:p>
            <a:pPr marL="0" indent="0" algn="l">
              <a:buNone/>
            </a:pPr>
            <a:r>
              <a:rPr lang="en-US" sz="10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大模型识别问题意图并生成回答</a:t>
            </a:r>
            <a:endParaRPr lang="en-US" sz="1040" dirty="0"/>
          </a:p>
        </p:txBody>
      </p:sp>
      <p:sp>
        <p:nvSpPr>
          <p:cNvPr id="20" name="Text 18"/>
          <p:cNvSpPr/>
          <p:nvPr/>
        </p:nvSpPr>
        <p:spPr>
          <a:xfrm>
            <a:off x="6492240" y="4206240"/>
            <a:ext cx="4617720" cy="141732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数据：project_info、camera_resource、temporary_person、file_resource、device_info、user_project</a:t>
            </a:r>
            <a:endParaRPr lang="en-US" sz="1010" dirty="0"/>
          </a:p>
          <a:p>
            <a:pPr marL="0" indent="0" algn="l">
              <a:buNone/>
            </a:pPr>
            <a:r>
              <a:rPr lang="en-US" sz="101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输出：查询结果、项目状态摘要、异常说明、风险提示</a:t>
            </a:r>
            <a:endParaRPr lang="en-US" sz="1010" dirty="0"/>
          </a:p>
        </p:txBody>
      </p:sp>
      <p:sp>
        <p:nvSpPr>
          <p:cNvPr id="21" name="Text 19"/>
          <p:cNvSpPr/>
          <p:nvPr/>
        </p:nvSpPr>
        <p:spPr>
          <a:xfrm>
            <a:off x="11155680" y="6492240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3093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AI 通用应用能力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11201400" cy="0"/>
          </a:xfrm>
          <a:prstGeom prst="line">
            <a:avLst/>
          </a:prstGeom>
          <a:noFill/>
          <a:ln w="10160">
            <a:solidFill>
              <a:srgbClr val="DDE5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AI项目简报与报告生成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53949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0" y="1325880"/>
            <a:ext cx="525780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3502152"/>
            <a:ext cx="5394960" cy="2578608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0" y="3502152"/>
            <a:ext cx="5257800" cy="2578608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1600200"/>
            <a:ext cx="45720" cy="228600"/>
          </a:xfrm>
          <a:prstGeom prst="rect">
            <a:avLst/>
          </a:prstGeom>
          <a:solidFill>
            <a:srgbClr val="1769E0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591056"/>
            <a:ext cx="464515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6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能力说明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92240" y="1600200"/>
            <a:ext cx="45720" cy="228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01968" y="1591056"/>
            <a:ext cx="450799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可辅助工作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3776472"/>
            <a:ext cx="4572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3767328"/>
            <a:ext cx="464515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落地实现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92240" y="3776472"/>
            <a:ext cx="45720" cy="228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01968" y="3767328"/>
            <a:ext cx="450799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C3A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数据依赖 / 输出成果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2029968"/>
            <a:ext cx="4709160" cy="93268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基于项目数据生成简报、日报、周报、月报、领导汇报摘要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可生成视频接入运行报告、人员安全教育报告、资料归档报告、设备异常分析报告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统一报告结构，提升汇报效率</a:t>
            </a:r>
            <a:endParaRPr lang="en-US" sz="1070" dirty="0"/>
          </a:p>
        </p:txBody>
      </p:sp>
      <p:sp>
        <p:nvSpPr>
          <p:cNvPr id="18" name="Text 16"/>
          <p:cNvSpPr/>
          <p:nvPr/>
        </p:nvSpPr>
        <p:spPr>
          <a:xfrm>
            <a:off x="6492240" y="2029968"/>
            <a:ext cx="4617720" cy="93268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辅助项目经理、管理层快速形成标准化汇报材料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辅助安全员、资料员整理专项报告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减少人工统计与文字整理工作</a:t>
            </a:r>
            <a:endParaRPr lang="en-US" sz="1070" dirty="0"/>
          </a:p>
        </p:txBody>
      </p:sp>
      <p:sp>
        <p:nvSpPr>
          <p:cNvPr id="19" name="Text 17"/>
          <p:cNvSpPr/>
          <p:nvPr/>
        </p:nvSpPr>
        <p:spPr>
          <a:xfrm>
            <a:off x="914400" y="4206240"/>
            <a:ext cx="4709160" cy="141732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建设项目数据聚合接口：/api/v1/ai/project-report-data</a:t>
            </a:r>
            <a:endParaRPr lang="en-US" sz="1040" dirty="0"/>
          </a:p>
          <a:p>
            <a:pPr marL="0" indent="0" algn="l">
              <a:buNone/>
            </a:pPr>
            <a:r>
              <a:rPr lang="en-US" sz="10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预置日报、周报、视频接入、领导汇报等模板</a:t>
            </a:r>
            <a:endParaRPr lang="en-US" sz="1040" dirty="0"/>
          </a:p>
          <a:p>
            <a:pPr marL="0" indent="0" algn="l">
              <a:buNone/>
            </a:pPr>
            <a:r>
              <a:rPr lang="en-US" sz="10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AI按模板生成，人工编辑后导出Word/PDF或保存资料</a:t>
            </a:r>
            <a:endParaRPr lang="en-US" sz="1040" dirty="0"/>
          </a:p>
        </p:txBody>
      </p:sp>
      <p:sp>
        <p:nvSpPr>
          <p:cNvPr id="20" name="Text 18"/>
          <p:cNvSpPr/>
          <p:nvPr/>
        </p:nvSpPr>
        <p:spPr>
          <a:xfrm>
            <a:off x="6492240" y="4206240"/>
            <a:ext cx="4617720" cy="141732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数据：项目概况、视频监控、安全教育、资料上传、设备状态、整改任务</a:t>
            </a:r>
            <a:endParaRPr lang="en-US" sz="1010" dirty="0"/>
          </a:p>
          <a:p>
            <a:pPr marL="0" indent="0" algn="l">
              <a:buNone/>
            </a:pPr>
            <a:r>
              <a:rPr lang="en-US" sz="101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输出：项目简报、周/月报、领导汇报、专项报告</a:t>
            </a:r>
            <a:endParaRPr lang="en-US" sz="1010" dirty="0"/>
          </a:p>
        </p:txBody>
      </p:sp>
      <p:sp>
        <p:nvSpPr>
          <p:cNvPr id="21" name="Text 19"/>
          <p:cNvSpPr/>
          <p:nvPr/>
        </p:nvSpPr>
        <p:spPr>
          <a:xfrm>
            <a:off x="11155680" y="6492240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3093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AI 通用应用能力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11201400" cy="0"/>
          </a:xfrm>
          <a:prstGeom prst="line">
            <a:avLst/>
          </a:prstGeom>
          <a:noFill/>
          <a:ln w="10160">
            <a:solidFill>
              <a:srgbClr val="DDE5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AI资料识别与自动归档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53949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0" y="1325880"/>
            <a:ext cx="525780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3502152"/>
            <a:ext cx="5394960" cy="2578608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0" y="3502152"/>
            <a:ext cx="5257800" cy="2578608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1600200"/>
            <a:ext cx="45720" cy="228600"/>
          </a:xfrm>
          <a:prstGeom prst="rect">
            <a:avLst/>
          </a:prstGeom>
          <a:solidFill>
            <a:srgbClr val="1769E0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591056"/>
            <a:ext cx="464515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6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能力说明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92240" y="1600200"/>
            <a:ext cx="45720" cy="228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01968" y="1591056"/>
            <a:ext cx="450799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可辅助工作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3776472"/>
            <a:ext cx="4572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3767328"/>
            <a:ext cx="464515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落地实现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92240" y="3776472"/>
            <a:ext cx="45720" cy="228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01968" y="3767328"/>
            <a:ext cx="450799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C3A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数据依赖 / 输出成果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2029968"/>
            <a:ext cx="4709160" cy="93268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上传文件后自动识别资料类型、提取关键字段、生成摘要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支持安全教育、签字文件、证书、会议纪要、施工日志、视频接入资料、设备资料、材料资料等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给出资料归档建议</a:t>
            </a:r>
            <a:endParaRPr lang="en-US" sz="1070" dirty="0"/>
          </a:p>
        </p:txBody>
      </p:sp>
      <p:sp>
        <p:nvSpPr>
          <p:cNvPr id="18" name="Text 16"/>
          <p:cNvSpPr/>
          <p:nvPr/>
        </p:nvSpPr>
        <p:spPr>
          <a:xfrm>
            <a:off x="6492240" y="2029968"/>
            <a:ext cx="4617720" cy="93268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辅助资料员、安全员、质量员、材料员整理资料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减少手工分类、命名、摘要、归档工作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提升资料检索与留痕质量</a:t>
            </a:r>
            <a:endParaRPr lang="en-US" sz="1070" dirty="0"/>
          </a:p>
        </p:txBody>
      </p:sp>
      <p:sp>
        <p:nvSpPr>
          <p:cNvPr id="19" name="Text 17"/>
          <p:cNvSpPr/>
          <p:nvPr/>
        </p:nvSpPr>
        <p:spPr>
          <a:xfrm>
            <a:off x="914400" y="4206240"/>
            <a:ext cx="4709160" cy="141732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文件上传后触发OCR识别与文档解析</a:t>
            </a:r>
            <a:endParaRPr lang="en-US" sz="1040" dirty="0"/>
          </a:p>
          <a:p>
            <a:pPr marL="0" indent="0" algn="l">
              <a:buNone/>
            </a:pPr>
            <a:r>
              <a:rPr lang="en-US" sz="10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大模型判断资料类型并提取项目名称、日期、人员、标题等字段</a:t>
            </a:r>
            <a:endParaRPr lang="en-US" sz="1040" dirty="0"/>
          </a:p>
          <a:p>
            <a:pPr marL="0" indent="0" algn="l">
              <a:buNone/>
            </a:pPr>
            <a:r>
              <a:rPr lang="en-US" sz="10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生成摘要与归档目录建议，人工确认归档</a:t>
            </a:r>
            <a:endParaRPr lang="en-US" sz="1040" dirty="0"/>
          </a:p>
        </p:txBody>
      </p:sp>
      <p:sp>
        <p:nvSpPr>
          <p:cNvPr id="20" name="Text 18"/>
          <p:cNvSpPr/>
          <p:nvPr/>
        </p:nvSpPr>
        <p:spPr>
          <a:xfrm>
            <a:off x="6492240" y="4206240"/>
            <a:ext cx="4617720" cy="141732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数据：file_resource、OCR文本、项目基础信息、资料分类字典、安全教育批次</a:t>
            </a:r>
            <a:endParaRPr lang="en-US" sz="1010" dirty="0"/>
          </a:p>
          <a:p>
            <a:pPr marL="0" indent="0" algn="l">
              <a:buNone/>
            </a:pPr>
            <a:r>
              <a:rPr lang="en-US" sz="101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输出：资料分类、资料摘要、关键字段、归档建议</a:t>
            </a:r>
            <a:endParaRPr lang="en-US" sz="1010" dirty="0"/>
          </a:p>
        </p:txBody>
      </p:sp>
      <p:sp>
        <p:nvSpPr>
          <p:cNvPr id="21" name="Text 19"/>
          <p:cNvSpPr/>
          <p:nvPr/>
        </p:nvSpPr>
        <p:spPr>
          <a:xfrm>
            <a:off x="11155680" y="6492240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3093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AI 通用应用能力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11201400" cy="0"/>
          </a:xfrm>
          <a:prstGeom prst="line">
            <a:avLst/>
          </a:prstGeom>
          <a:noFill/>
          <a:ln w="10160">
            <a:solidFill>
              <a:srgbClr val="DDE5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AI资料完整性检查与虚拟验收预检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53949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0" y="1325880"/>
            <a:ext cx="525780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3502152"/>
            <a:ext cx="5394960" cy="2578608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0" y="3502152"/>
            <a:ext cx="5257800" cy="2578608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1600200"/>
            <a:ext cx="45720" cy="228600"/>
          </a:xfrm>
          <a:prstGeom prst="rect">
            <a:avLst/>
          </a:prstGeom>
          <a:solidFill>
            <a:srgbClr val="1769E0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591056"/>
            <a:ext cx="464515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6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能力说明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92240" y="1600200"/>
            <a:ext cx="45720" cy="228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01968" y="1591056"/>
            <a:ext cx="450799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可辅助工作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3776472"/>
            <a:ext cx="4572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3767328"/>
            <a:ext cx="464515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落地实现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92240" y="3776472"/>
            <a:ext cx="45720" cy="228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01968" y="3767328"/>
            <a:ext cx="450799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C3A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数据依赖 / 输出成果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2029968"/>
            <a:ext cx="4709160" cy="93268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根据项目阶段和资料模板检查资料是否齐全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可检查安全教育、签字文件、会议纪要、施工日志、视频接入、设备调试、整改闭环等资料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提前发现资料缺失和异常</a:t>
            </a:r>
            <a:endParaRPr lang="en-US" sz="1070" dirty="0"/>
          </a:p>
        </p:txBody>
      </p:sp>
      <p:sp>
        <p:nvSpPr>
          <p:cNvPr id="18" name="Text 16"/>
          <p:cNvSpPr/>
          <p:nvPr/>
        </p:nvSpPr>
        <p:spPr>
          <a:xfrm>
            <a:off x="6492240" y="2029968"/>
            <a:ext cx="4617720" cy="93268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辅助资料员、质量员、安全员、项目经理准备检查和验收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降低资料不完整带来的管理风险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形成补充资料清单</a:t>
            </a:r>
            <a:endParaRPr lang="en-US" sz="1070" dirty="0"/>
          </a:p>
        </p:txBody>
      </p:sp>
      <p:sp>
        <p:nvSpPr>
          <p:cNvPr id="19" name="Text 17"/>
          <p:cNvSpPr/>
          <p:nvPr/>
        </p:nvSpPr>
        <p:spPr>
          <a:xfrm>
            <a:off x="914400" y="4206240"/>
            <a:ext cx="4709160" cy="141732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建立安全教育、视频接入、设备、材料、质量验收、整改闭环等资料清单模板</a:t>
            </a:r>
            <a:endParaRPr lang="en-US" sz="1040" dirty="0"/>
          </a:p>
          <a:p>
            <a:pPr marL="0" indent="0" algn="l">
              <a:buNone/>
            </a:pPr>
            <a:r>
              <a:rPr lang="en-US" sz="10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读取已上传资料并比对缺失项</a:t>
            </a:r>
            <a:endParaRPr lang="en-US" sz="1040" dirty="0"/>
          </a:p>
          <a:p>
            <a:pPr marL="0" indent="0" algn="l">
              <a:buNone/>
            </a:pPr>
            <a:r>
              <a:rPr lang="en-US" sz="10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AI生成资料完整性检查报告和补充建议</a:t>
            </a:r>
            <a:endParaRPr lang="en-US" sz="1040" dirty="0"/>
          </a:p>
        </p:txBody>
      </p:sp>
      <p:sp>
        <p:nvSpPr>
          <p:cNvPr id="20" name="Text 18"/>
          <p:cNvSpPr/>
          <p:nvPr/>
        </p:nvSpPr>
        <p:spPr>
          <a:xfrm>
            <a:off x="6492240" y="4206240"/>
            <a:ext cx="4617720" cy="141732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数据：资料模板、文件资源表、项目阶段、业务数据表、资料分类结果</a:t>
            </a:r>
            <a:endParaRPr lang="en-US" sz="1010" dirty="0"/>
          </a:p>
          <a:p>
            <a:pPr marL="0" indent="0" algn="l">
              <a:buNone/>
            </a:pPr>
            <a:r>
              <a:rPr lang="en-US" sz="101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输出：缺失资料清单、异常资料清单、预检报告、补充建议</a:t>
            </a:r>
            <a:endParaRPr lang="en-US" sz="1010" dirty="0"/>
          </a:p>
        </p:txBody>
      </p:sp>
      <p:sp>
        <p:nvSpPr>
          <p:cNvPr id="21" name="Text 19"/>
          <p:cNvSpPr/>
          <p:nvPr/>
        </p:nvSpPr>
        <p:spPr>
          <a:xfrm>
            <a:off x="11155680" y="6492240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3093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AI 通用应用能力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11201400" cy="0"/>
          </a:xfrm>
          <a:prstGeom prst="line">
            <a:avLst/>
          </a:prstGeom>
          <a:noFill/>
          <a:ln w="10160">
            <a:solidFill>
              <a:srgbClr val="DDE5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AI视频接入合规检查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53949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0" y="1325880"/>
            <a:ext cx="525780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3502152"/>
            <a:ext cx="5394960" cy="2578608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0" y="3502152"/>
            <a:ext cx="5257800" cy="2578608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1600200"/>
            <a:ext cx="45720" cy="228600"/>
          </a:xfrm>
          <a:prstGeom prst="rect">
            <a:avLst/>
          </a:prstGeom>
          <a:solidFill>
            <a:srgbClr val="1769E0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591056"/>
            <a:ext cx="464515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6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能力说明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92240" y="1600200"/>
            <a:ext cx="45720" cy="228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01968" y="1591056"/>
            <a:ext cx="450799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可辅助工作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3776472"/>
            <a:ext cx="4572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3767328"/>
            <a:ext cx="464515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落地实现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92240" y="3776472"/>
            <a:ext cx="45720" cy="228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01968" y="3767328"/>
            <a:ext cx="450799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C3A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数据依赖 / 输出成果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2029968"/>
            <a:ext cx="4709160" cy="93268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依据视频接入要求检查点位、协议、设备参数、在线率、存储天数和监管编码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重点检查人员出入口、塔吊/制高点、危大工程作业区摄像头配置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检查GB/T28181、H.264、分辨率、帧率、国标设备ID、云存储和在线率</a:t>
            </a:r>
            <a:endParaRPr lang="en-US" sz="1070" dirty="0"/>
          </a:p>
        </p:txBody>
      </p:sp>
      <p:sp>
        <p:nvSpPr>
          <p:cNvPr id="18" name="Text 16"/>
          <p:cNvSpPr/>
          <p:nvPr/>
        </p:nvSpPr>
        <p:spPr>
          <a:xfrm>
            <a:off x="6492240" y="2029968"/>
            <a:ext cx="4617720" cy="93268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辅助安全员、机械员、项目经理、管理层掌握视频接入状态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快速发现缺失点位和不合规摄像头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形成整改建议</a:t>
            </a:r>
            <a:endParaRPr lang="en-US" sz="1070" dirty="0"/>
          </a:p>
        </p:txBody>
      </p:sp>
      <p:sp>
        <p:nvSpPr>
          <p:cNvPr id="19" name="Text 17"/>
          <p:cNvSpPr/>
          <p:nvPr/>
        </p:nvSpPr>
        <p:spPr>
          <a:xfrm>
            <a:off x="914400" y="4206240"/>
            <a:ext cx="4709160" cy="141732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建立视频合规规则库：点位、online_rate、video_codec、fps、resolution、storage_days、gb_device_id等</a:t>
            </a:r>
            <a:endParaRPr lang="en-US" sz="1040" dirty="0"/>
          </a:p>
          <a:p>
            <a:pPr marL="0" indent="0" algn="l">
              <a:buNone/>
            </a:pPr>
            <a:r>
              <a:rPr lang="en-US" sz="10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后端接口执行规则判断：/api/v1/video-access/compliance</a:t>
            </a:r>
            <a:endParaRPr lang="en-US" sz="1040" dirty="0"/>
          </a:p>
          <a:p>
            <a:pPr marL="0" indent="0" algn="l">
              <a:buNone/>
            </a:pPr>
            <a:r>
              <a:rPr lang="en-US" sz="10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AI生成自然语言合规报告与整改建议</a:t>
            </a:r>
            <a:endParaRPr lang="en-US" sz="1040" dirty="0"/>
          </a:p>
        </p:txBody>
      </p:sp>
      <p:sp>
        <p:nvSpPr>
          <p:cNvPr id="20" name="Text 18"/>
          <p:cNvSpPr/>
          <p:nvPr/>
        </p:nvSpPr>
        <p:spPr>
          <a:xfrm>
            <a:off x="6492240" y="4206240"/>
            <a:ext cx="4617720" cy="141732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数据：project_info、camera_resource、video_access_process、camera_online_record、camera_compliance_check</a:t>
            </a:r>
            <a:endParaRPr lang="en-US" sz="1010" dirty="0"/>
          </a:p>
          <a:p>
            <a:pPr marL="0" indent="0" algn="l">
              <a:buNone/>
            </a:pPr>
            <a:r>
              <a:rPr lang="en-US" sz="101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输出：合规结论、缺失点位、不合规清单、整改建议</a:t>
            </a:r>
            <a:endParaRPr lang="en-US" sz="1010" dirty="0"/>
          </a:p>
        </p:txBody>
      </p:sp>
      <p:sp>
        <p:nvSpPr>
          <p:cNvPr id="21" name="Text 19"/>
          <p:cNvSpPr/>
          <p:nvPr/>
        </p:nvSpPr>
        <p:spPr>
          <a:xfrm>
            <a:off x="11155680" y="6492240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3093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AI 通用应用能力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11201400" cy="0"/>
          </a:xfrm>
          <a:prstGeom prst="line">
            <a:avLst/>
          </a:prstGeom>
          <a:noFill/>
          <a:ln w="10160">
            <a:solidFill>
              <a:srgbClr val="DDE5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AI视频接入流程助手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53949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0" y="1325880"/>
            <a:ext cx="525780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3502152"/>
            <a:ext cx="5394960" cy="2578608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0" y="3502152"/>
            <a:ext cx="5257800" cy="2578608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1600200"/>
            <a:ext cx="45720" cy="228600"/>
          </a:xfrm>
          <a:prstGeom prst="rect">
            <a:avLst/>
          </a:prstGeom>
          <a:solidFill>
            <a:srgbClr val="1769E0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591056"/>
            <a:ext cx="464515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6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能力说明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92240" y="1600200"/>
            <a:ext cx="45720" cy="228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01968" y="1591056"/>
            <a:ext cx="450799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可辅助工作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3776472"/>
            <a:ext cx="4572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3767328"/>
            <a:ext cx="464515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落地实现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92240" y="3776472"/>
            <a:ext cx="45720" cy="228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01968" y="3767328"/>
            <a:ext cx="450799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C3A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数据依赖 / 输出成果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2029968"/>
            <a:ext cx="4709160" cy="93268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结合视频接入操作手册与项目当前流程状态，回答下一步怎么做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可解释国标ID、GB28181配置、云存储套餐、调试和监管平台编码填写等流程问题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可在每个流程节点提供“AI下一步指引”</a:t>
            </a:r>
            <a:endParaRPr lang="en-US" sz="1070" dirty="0"/>
          </a:p>
        </p:txBody>
      </p:sp>
      <p:sp>
        <p:nvSpPr>
          <p:cNvPr id="18" name="Text 16"/>
          <p:cNvSpPr/>
          <p:nvPr/>
        </p:nvSpPr>
        <p:spPr>
          <a:xfrm>
            <a:off x="6492240" y="2029968"/>
            <a:ext cx="4617720" cy="93268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辅助项目实施人员、设备接入人员、安全员理解接入流程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减少操作遗漏和反复沟通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提示资料缺失和流程未完成项</a:t>
            </a:r>
            <a:endParaRPr lang="en-US" sz="1070" dirty="0"/>
          </a:p>
        </p:txBody>
      </p:sp>
      <p:sp>
        <p:nvSpPr>
          <p:cNvPr id="19" name="Text 17"/>
          <p:cNvSpPr/>
          <p:nvPr/>
        </p:nvSpPr>
        <p:spPr>
          <a:xfrm>
            <a:off x="914400" y="4206240"/>
            <a:ext cx="4709160" cy="141732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导入视频接入操作手册形成知识库</a:t>
            </a:r>
            <a:endParaRPr lang="en-US" sz="1040" dirty="0"/>
          </a:p>
          <a:p>
            <a:pPr marL="0" indent="0" algn="l">
              <a:buNone/>
            </a:pPr>
            <a:r>
              <a:rPr lang="en-US" sz="10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建立视频接入流程状态表</a:t>
            </a:r>
            <a:endParaRPr lang="en-US" sz="1040" dirty="0"/>
          </a:p>
          <a:p>
            <a:pPr marL="0" indent="0" algn="l">
              <a:buNone/>
            </a:pPr>
            <a:r>
              <a:rPr lang="en-US" sz="10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AI结合知识库与当前状态生成操作建议</a:t>
            </a:r>
            <a:endParaRPr lang="en-US" sz="1040" dirty="0"/>
          </a:p>
        </p:txBody>
      </p:sp>
      <p:sp>
        <p:nvSpPr>
          <p:cNvPr id="20" name="Text 18"/>
          <p:cNvSpPr/>
          <p:nvPr/>
        </p:nvSpPr>
        <p:spPr>
          <a:xfrm>
            <a:off x="6492240" y="4206240"/>
            <a:ext cx="4617720" cy="141732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数据：视频接入操作手册、video_access_process、camera_resource、project_info、file_resource</a:t>
            </a:r>
            <a:endParaRPr lang="en-US" sz="1010" dirty="0"/>
          </a:p>
          <a:p>
            <a:pPr marL="0" indent="0" algn="l">
              <a:buNone/>
            </a:pPr>
            <a:r>
              <a:rPr lang="en-US" sz="101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输出：下一步提示、流程缺失提醒、操作说明、接入完成度说明</a:t>
            </a:r>
            <a:endParaRPr lang="en-US" sz="1010" dirty="0"/>
          </a:p>
        </p:txBody>
      </p:sp>
      <p:sp>
        <p:nvSpPr>
          <p:cNvPr id="21" name="Text 19"/>
          <p:cNvSpPr/>
          <p:nvPr/>
        </p:nvSpPr>
        <p:spPr>
          <a:xfrm>
            <a:off x="11155680" y="6492240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3093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AI 通用应用能力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11201400" cy="0"/>
          </a:xfrm>
          <a:prstGeom prst="line">
            <a:avLst/>
          </a:prstGeom>
          <a:noFill/>
          <a:ln w="10160">
            <a:solidFill>
              <a:srgbClr val="DDE5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AI视频截图巡查说明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53949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0" y="1325880"/>
            <a:ext cx="525780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3502152"/>
            <a:ext cx="5394960" cy="2578608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0" y="3502152"/>
            <a:ext cx="5257800" cy="2578608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1600200"/>
            <a:ext cx="45720" cy="228600"/>
          </a:xfrm>
          <a:prstGeom prst="rect">
            <a:avLst/>
          </a:prstGeom>
          <a:solidFill>
            <a:srgbClr val="1769E0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591056"/>
            <a:ext cx="464515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6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能力说明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92240" y="1600200"/>
            <a:ext cx="45720" cy="228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01968" y="1591056"/>
            <a:ext cx="450799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可辅助工作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3776472"/>
            <a:ext cx="4572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3767328"/>
            <a:ext cx="464515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落地实现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92240" y="3776472"/>
            <a:ext cx="45720" cy="228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01968" y="3767328"/>
            <a:ext cx="450799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C3A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数据依赖 / 输出成果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2029968"/>
            <a:ext cx="4709160" cy="93268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从摄像头视频画面截取图片，由AI生成画面说明和巡查记录初稿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判断场景类型：人员出入口、塔吊/制高点、基坑区域等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识别画面中可见内容并提示明显异常</a:t>
            </a:r>
            <a:endParaRPr lang="en-US" sz="1070" dirty="0"/>
          </a:p>
        </p:txBody>
      </p:sp>
      <p:sp>
        <p:nvSpPr>
          <p:cNvPr id="18" name="Text 16"/>
          <p:cNvSpPr/>
          <p:nvPr/>
        </p:nvSpPr>
        <p:spPr>
          <a:xfrm>
            <a:off x="6492240" y="2029968"/>
            <a:ext cx="4617720" cy="93268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辅助安全员、项目经理、管理层整理视频巡查记录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辅助形成现场画面说明和汇报素材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提高视频巡查记录效率</a:t>
            </a:r>
            <a:endParaRPr lang="en-US" sz="1070" dirty="0"/>
          </a:p>
        </p:txBody>
      </p:sp>
      <p:sp>
        <p:nvSpPr>
          <p:cNvPr id="19" name="Text 17"/>
          <p:cNvSpPr/>
          <p:nvPr/>
        </p:nvSpPr>
        <p:spPr>
          <a:xfrm>
            <a:off x="914400" y="4206240"/>
            <a:ext cx="4709160" cy="141732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截图来源可为前端播放器、视频平台截图接口、流媒体定时截图或人工上传截图</a:t>
            </a:r>
            <a:endParaRPr lang="en-US" sz="1040" dirty="0"/>
          </a:p>
          <a:p>
            <a:pPr marL="0" indent="0" algn="l">
              <a:buNone/>
            </a:pPr>
            <a:r>
              <a:rPr lang="en-US" sz="10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调用多模态AI分析图片并生成描述</a:t>
            </a:r>
            <a:endParaRPr lang="en-US" sz="1040" dirty="0"/>
          </a:p>
          <a:p>
            <a:pPr marL="0" indent="0" algn="l">
              <a:buNone/>
            </a:pPr>
            <a:r>
              <a:rPr lang="en-US" sz="10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人工确认后保存为巡查记录</a:t>
            </a:r>
            <a:endParaRPr lang="en-US" sz="1040" dirty="0"/>
          </a:p>
        </p:txBody>
      </p:sp>
      <p:sp>
        <p:nvSpPr>
          <p:cNvPr id="20" name="Text 18"/>
          <p:cNvSpPr/>
          <p:nvPr/>
        </p:nvSpPr>
        <p:spPr>
          <a:xfrm>
            <a:off x="6492240" y="4206240"/>
            <a:ext cx="4617720" cy="141732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数据：摄像头截图、摄像头安装位置、项目名称、摄像头名称、截图时间</a:t>
            </a:r>
            <a:endParaRPr lang="en-US" sz="1010" dirty="0"/>
          </a:p>
          <a:p>
            <a:pPr marL="0" indent="0" algn="l">
              <a:buNone/>
            </a:pPr>
            <a:r>
              <a:rPr lang="en-US" sz="101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输出：巡查记录、截图说明、疑似异常提示、汇报素材</a:t>
            </a:r>
            <a:endParaRPr lang="en-US" sz="1010" dirty="0"/>
          </a:p>
        </p:txBody>
      </p:sp>
      <p:sp>
        <p:nvSpPr>
          <p:cNvPr id="21" name="Text 19"/>
          <p:cNvSpPr/>
          <p:nvPr/>
        </p:nvSpPr>
        <p:spPr>
          <a:xfrm>
            <a:off x="11155680" y="6492240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3093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AI 通用应用能力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11201400" cy="0"/>
          </a:xfrm>
          <a:prstGeom prst="line">
            <a:avLst/>
          </a:prstGeom>
          <a:noFill/>
          <a:ln w="10160">
            <a:solidFill>
              <a:srgbClr val="DDE5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AI安全行为识别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53949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0" y="1325880"/>
            <a:ext cx="525780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3502152"/>
            <a:ext cx="5394960" cy="2578608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0" y="3502152"/>
            <a:ext cx="5257800" cy="2578608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1600200"/>
            <a:ext cx="45720" cy="228600"/>
          </a:xfrm>
          <a:prstGeom prst="rect">
            <a:avLst/>
          </a:prstGeom>
          <a:solidFill>
            <a:srgbClr val="1769E0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591056"/>
            <a:ext cx="464515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6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能力说明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92240" y="1600200"/>
            <a:ext cx="45720" cy="228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01968" y="1591056"/>
            <a:ext cx="450799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可辅助工作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3776472"/>
            <a:ext cx="4572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3767328"/>
            <a:ext cx="464515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落地实现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92240" y="3776472"/>
            <a:ext cx="45720" cy="228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01968" y="3767328"/>
            <a:ext cx="450799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C3A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数据依赖 / 输出成果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2029968"/>
            <a:ext cx="4709160" cy="93268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结合视频流、截图和视觉识别算法，辅助识别安全行为问题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可识别未戴安全帽、未穿反光背心、危险区域进入、烟火、车辆人员混行等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大模型负责事件说明和整改建议生成</a:t>
            </a:r>
            <a:endParaRPr lang="en-US" sz="1070" dirty="0"/>
          </a:p>
        </p:txBody>
      </p:sp>
      <p:sp>
        <p:nvSpPr>
          <p:cNvPr id="18" name="Text 16"/>
          <p:cNvSpPr/>
          <p:nvPr/>
        </p:nvSpPr>
        <p:spPr>
          <a:xfrm>
            <a:off x="6492240" y="2029968"/>
            <a:ext cx="4617720" cy="93268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辅助安全员开展视频巡查、隐患发现、异常事件记录和整改跟踪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将视频异常转化为结构化事件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形成可追溯的安全闭环</a:t>
            </a:r>
            <a:endParaRPr lang="en-US" sz="1070" dirty="0"/>
          </a:p>
        </p:txBody>
      </p:sp>
      <p:sp>
        <p:nvSpPr>
          <p:cNvPr id="19" name="Text 17"/>
          <p:cNvSpPr/>
          <p:nvPr/>
        </p:nvSpPr>
        <p:spPr>
          <a:xfrm>
            <a:off x="914400" y="4206240"/>
            <a:ext cx="4709160" cy="141732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采用“视频流/截图 → 视觉识别模型 → 结构化事件 → 大模型说明 → 人工确认 → 整改闭环”</a:t>
            </a:r>
            <a:endParaRPr lang="en-US" sz="1040" dirty="0"/>
          </a:p>
          <a:p>
            <a:pPr marL="0" indent="0" algn="l">
              <a:buNone/>
            </a:pPr>
            <a:r>
              <a:rPr lang="en-US" sz="10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建设 video_ai_event 事件表</a:t>
            </a:r>
            <a:endParaRPr lang="en-US" sz="1040" dirty="0"/>
          </a:p>
          <a:p>
            <a:pPr marL="0" indent="0" algn="l">
              <a:buNone/>
            </a:pPr>
            <a:r>
              <a:rPr lang="en-US" sz="10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识别结果支持有效、误报、已处理等确认状态</a:t>
            </a:r>
            <a:endParaRPr lang="en-US" sz="1040" dirty="0"/>
          </a:p>
        </p:txBody>
      </p:sp>
      <p:sp>
        <p:nvSpPr>
          <p:cNvPr id="20" name="Text 18"/>
          <p:cNvSpPr/>
          <p:nvPr/>
        </p:nvSpPr>
        <p:spPr>
          <a:xfrm>
            <a:off x="6492240" y="4206240"/>
            <a:ext cx="4617720" cy="141732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数据：视频流或截图、视觉识别算法、摄像头点位信息、AI事件表、整改任务表</a:t>
            </a:r>
            <a:endParaRPr lang="en-US" sz="1010" dirty="0"/>
          </a:p>
          <a:p>
            <a:pPr marL="0" indent="0" algn="l">
              <a:buNone/>
            </a:pPr>
            <a:r>
              <a:rPr lang="en-US" sz="101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输出：安全事件、隐患截图、AI事件说明、整改建议、闭环记录</a:t>
            </a:r>
            <a:endParaRPr lang="en-US" sz="1010" dirty="0"/>
          </a:p>
        </p:txBody>
      </p:sp>
      <p:sp>
        <p:nvSpPr>
          <p:cNvPr id="21" name="Text 19"/>
          <p:cNvSpPr/>
          <p:nvPr/>
        </p:nvSpPr>
        <p:spPr>
          <a:xfrm>
            <a:off x="11155680" y="6492240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16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3093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AI 通用应用能力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11201400" cy="0"/>
          </a:xfrm>
          <a:prstGeom prst="line">
            <a:avLst/>
          </a:prstGeom>
          <a:noFill/>
          <a:ln w="10160">
            <a:solidFill>
              <a:srgbClr val="DDE5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AI摄像头在线率与画面异常分析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53949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0" y="1325880"/>
            <a:ext cx="525780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3502152"/>
            <a:ext cx="5394960" cy="2578608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0" y="3502152"/>
            <a:ext cx="5257800" cy="2578608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1600200"/>
            <a:ext cx="45720" cy="228600"/>
          </a:xfrm>
          <a:prstGeom prst="rect">
            <a:avLst/>
          </a:prstGeom>
          <a:solidFill>
            <a:srgbClr val="1769E0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591056"/>
            <a:ext cx="464515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6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能力说明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92240" y="1600200"/>
            <a:ext cx="45720" cy="228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01968" y="1591056"/>
            <a:ext cx="450799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可辅助工作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3776472"/>
            <a:ext cx="4572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3767328"/>
            <a:ext cx="464515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落地实现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92240" y="3776472"/>
            <a:ext cx="45720" cy="228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01968" y="3767328"/>
            <a:ext cx="450799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C3A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数据依赖 / 输出成果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2029968"/>
            <a:ext cx="4709160" cy="93268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分析摄像头离线、低在线率、黑屏、模糊、遮挡、冻结、角度偏移、视频流中断等问题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根据在线记录计算在线率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结合定时截图进行画面质量检测</a:t>
            </a:r>
            <a:endParaRPr lang="en-US" sz="1070" dirty="0"/>
          </a:p>
        </p:txBody>
      </p:sp>
      <p:sp>
        <p:nvSpPr>
          <p:cNvPr id="18" name="Text 16"/>
          <p:cNvSpPr/>
          <p:nvPr/>
        </p:nvSpPr>
        <p:spPr>
          <a:xfrm>
            <a:off x="6492240" y="2029968"/>
            <a:ext cx="4617720" cy="93268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辅助机械员、安全员、平台运维人员发现视频设备运行问题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输出优先排查清单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减少人工逐路打开摄像头检查</a:t>
            </a:r>
            <a:endParaRPr lang="en-US" sz="1070" dirty="0"/>
          </a:p>
        </p:txBody>
      </p:sp>
      <p:sp>
        <p:nvSpPr>
          <p:cNvPr id="19" name="Text 17"/>
          <p:cNvSpPr/>
          <p:nvPr/>
        </p:nvSpPr>
        <p:spPr>
          <a:xfrm>
            <a:off x="914400" y="4206240"/>
            <a:ext cx="4709160" cy="141732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采集摄像头在线状态并记录每日在线情况</a:t>
            </a:r>
            <a:endParaRPr lang="en-US" sz="1040" dirty="0"/>
          </a:p>
          <a:p>
            <a:pPr marL="0" indent="0" algn="l">
              <a:buNone/>
            </a:pPr>
            <a:r>
              <a:rPr lang="en-US" sz="10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计算在线率：实际在线天数 / 应运行天数 × 100%</a:t>
            </a:r>
            <a:endParaRPr lang="en-US" sz="1040" dirty="0"/>
          </a:p>
          <a:p>
            <a:pPr marL="0" indent="0" algn="l">
              <a:buNone/>
            </a:pPr>
            <a:r>
              <a:rPr lang="en-US" sz="10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规则和图像算法判断画面异常，AI生成异常说明</a:t>
            </a:r>
            <a:endParaRPr lang="en-US" sz="1040" dirty="0"/>
          </a:p>
        </p:txBody>
      </p:sp>
      <p:sp>
        <p:nvSpPr>
          <p:cNvPr id="20" name="Text 18"/>
          <p:cNvSpPr/>
          <p:nvPr/>
        </p:nvSpPr>
        <p:spPr>
          <a:xfrm>
            <a:off x="6492240" y="4206240"/>
            <a:ext cx="4617720" cy="141732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数据：camera_online_record、camera_resource、视频截图、视频平台在线状态接口</a:t>
            </a:r>
            <a:endParaRPr lang="en-US" sz="1010" dirty="0"/>
          </a:p>
          <a:p>
            <a:pPr marL="0" indent="0" algn="l">
              <a:buNone/>
            </a:pPr>
            <a:r>
              <a:rPr lang="en-US" sz="101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输出：低在线率清单、画面异常清单、连续离线提醒、排查建议</a:t>
            </a:r>
            <a:endParaRPr lang="en-US" sz="1010" dirty="0"/>
          </a:p>
        </p:txBody>
      </p:sp>
      <p:sp>
        <p:nvSpPr>
          <p:cNvPr id="21" name="Text 19"/>
          <p:cNvSpPr/>
          <p:nvPr/>
        </p:nvSpPr>
        <p:spPr>
          <a:xfrm>
            <a:off x="11155680" y="6492240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17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3093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AI 通用应用能力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11201400" cy="0"/>
          </a:xfrm>
          <a:prstGeom prst="line">
            <a:avLst/>
          </a:prstGeom>
          <a:noFill/>
          <a:ln w="10160">
            <a:solidFill>
              <a:srgbClr val="DDE5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AI人员与安全教育助手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53949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0" y="1325880"/>
            <a:ext cx="525780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3502152"/>
            <a:ext cx="5394960" cy="2578608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0" y="3502152"/>
            <a:ext cx="5257800" cy="2578608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1600200"/>
            <a:ext cx="45720" cy="228600"/>
          </a:xfrm>
          <a:prstGeom prst="rect">
            <a:avLst/>
          </a:prstGeom>
          <a:solidFill>
            <a:srgbClr val="1769E0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591056"/>
            <a:ext cx="464515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6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能力说明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92240" y="1600200"/>
            <a:ext cx="45720" cy="228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01968" y="1591056"/>
            <a:ext cx="450799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可辅助工作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3776472"/>
            <a:ext cx="4572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3767328"/>
            <a:ext cx="464515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落地实现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92240" y="3776472"/>
            <a:ext cx="45720" cy="228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01968" y="3767328"/>
            <a:ext cx="450799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C3A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数据依赖 / 输出成果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2029968"/>
            <a:ext cx="4709160" cy="93268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围绕临时人员、安全三级教育、培训资料、签字文件进行智能辅助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识别未完成安全教育人员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核对签字文件与培训人员是否一致，生成安全教育台账</a:t>
            </a:r>
            <a:endParaRPr lang="en-US" sz="1070" dirty="0"/>
          </a:p>
        </p:txBody>
      </p:sp>
      <p:sp>
        <p:nvSpPr>
          <p:cNvPr id="18" name="Text 16"/>
          <p:cNvSpPr/>
          <p:nvPr/>
        </p:nvSpPr>
        <p:spPr>
          <a:xfrm>
            <a:off x="6492240" y="2029968"/>
            <a:ext cx="4617720" cy="93268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辅助安全员、劳务员、资料员核查教育状态和安全资料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发现资料缺失、签字不匹配、未完成教育人员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生成安全教育摘要和提醒</a:t>
            </a:r>
            <a:endParaRPr lang="en-US" sz="1070" dirty="0"/>
          </a:p>
        </p:txBody>
      </p:sp>
      <p:sp>
        <p:nvSpPr>
          <p:cNvPr id="19" name="Text 17"/>
          <p:cNvSpPr/>
          <p:nvPr/>
        </p:nvSpPr>
        <p:spPr>
          <a:xfrm>
            <a:off x="914400" y="4206240"/>
            <a:ext cx="4709160" cy="141732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完善临时人员、安全教育批次、安全教育人员关联、培训资料和签字文件数据</a:t>
            </a:r>
            <a:endParaRPr lang="en-US" sz="1040" dirty="0"/>
          </a:p>
          <a:p>
            <a:pPr marL="0" indent="0" algn="l">
              <a:buNone/>
            </a:pPr>
            <a:r>
              <a:rPr lang="en-US" sz="10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OCR识别签字文件</a:t>
            </a:r>
            <a:endParaRPr lang="en-US" sz="1040" dirty="0"/>
          </a:p>
          <a:p>
            <a:pPr marL="0" indent="0" algn="l">
              <a:buNone/>
            </a:pPr>
            <a:r>
              <a:rPr lang="en-US" sz="10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AI核对人员匹配情况并生成提醒</a:t>
            </a:r>
            <a:endParaRPr lang="en-US" sz="1040" dirty="0"/>
          </a:p>
        </p:txBody>
      </p:sp>
      <p:sp>
        <p:nvSpPr>
          <p:cNvPr id="20" name="Text 18"/>
          <p:cNvSpPr/>
          <p:nvPr/>
        </p:nvSpPr>
        <p:spPr>
          <a:xfrm>
            <a:off x="6492240" y="4206240"/>
            <a:ext cx="4617720" cy="141732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数据：temporary_person、safety_education_batch、safety_education_person、file_resource、OCR识别结果</a:t>
            </a:r>
            <a:endParaRPr lang="en-US" sz="1010" dirty="0"/>
          </a:p>
          <a:p>
            <a:pPr marL="0" indent="0" algn="l">
              <a:buNone/>
            </a:pPr>
            <a:r>
              <a:rPr lang="en-US" sz="101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输出：待教育清单、教育摘要、签字核查结果、安全教育台账</a:t>
            </a:r>
            <a:endParaRPr lang="en-US" sz="1010" dirty="0"/>
          </a:p>
        </p:txBody>
      </p:sp>
      <p:sp>
        <p:nvSpPr>
          <p:cNvPr id="21" name="Text 19"/>
          <p:cNvSpPr/>
          <p:nvPr/>
        </p:nvSpPr>
        <p:spPr>
          <a:xfrm>
            <a:off x="11155680" y="6492240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18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3093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AI 通用应用能力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11201400" cy="0"/>
          </a:xfrm>
          <a:prstGeom prst="line">
            <a:avLst/>
          </a:prstGeom>
          <a:noFill/>
          <a:ln w="10160">
            <a:solidFill>
              <a:srgbClr val="DDE5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AI设备与塔吊状态分析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53949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0" y="1325880"/>
            <a:ext cx="525780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3502152"/>
            <a:ext cx="5394960" cy="2578608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0" y="3502152"/>
            <a:ext cx="5257800" cy="2578608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1600200"/>
            <a:ext cx="45720" cy="228600"/>
          </a:xfrm>
          <a:prstGeom prst="rect">
            <a:avLst/>
          </a:prstGeom>
          <a:solidFill>
            <a:srgbClr val="1769E0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591056"/>
            <a:ext cx="464515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6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能力说明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92240" y="1600200"/>
            <a:ext cx="45720" cy="228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01968" y="1591056"/>
            <a:ext cx="450799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可辅助工作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3776472"/>
            <a:ext cx="4572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3767328"/>
            <a:ext cx="464515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落地实现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92240" y="3776472"/>
            <a:ext cx="45720" cy="228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01968" y="3767328"/>
            <a:ext cx="450799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C3A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数据依赖 / 输出成果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2029968"/>
            <a:ext cx="4709160" cy="93268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分析塔吊、人货梯、施工设备、智能装备等运行状态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识别离线、频繁告警、维保到期、长时间未上报、设备利用率异常等问题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生成设备运行摘要</a:t>
            </a:r>
            <a:endParaRPr lang="en-US" sz="1070" dirty="0"/>
          </a:p>
        </p:txBody>
      </p:sp>
      <p:sp>
        <p:nvSpPr>
          <p:cNvPr id="18" name="Text 16"/>
          <p:cNvSpPr/>
          <p:nvPr/>
        </p:nvSpPr>
        <p:spPr>
          <a:xfrm>
            <a:off x="6492240" y="2029968"/>
            <a:ext cx="4617720" cy="93268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辅助机械员、项目经理、管理层掌握设备风险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提示重点设备和维保事项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形成设备运行日报</a:t>
            </a:r>
            <a:endParaRPr lang="en-US" sz="1070" dirty="0"/>
          </a:p>
        </p:txBody>
      </p:sp>
      <p:sp>
        <p:nvSpPr>
          <p:cNvPr id="19" name="Text 17"/>
          <p:cNvSpPr/>
          <p:nvPr/>
        </p:nvSpPr>
        <p:spPr>
          <a:xfrm>
            <a:off x="914400" y="4206240"/>
            <a:ext cx="4709160" cy="141732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建立设备台账：编号、名称、类型、项目、厂商、状态、最近上报时间、维保时间</a:t>
            </a:r>
            <a:endParaRPr lang="en-US" sz="1040" dirty="0"/>
          </a:p>
          <a:p>
            <a:pPr marL="0" indent="0" algn="l">
              <a:buNone/>
            </a:pPr>
            <a:r>
              <a:rPr lang="en-US" sz="10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对接塔吊或设备系统获取运行/停机/离线/告警/故障数据</a:t>
            </a:r>
            <a:endParaRPr lang="en-US" sz="1040" dirty="0"/>
          </a:p>
          <a:p>
            <a:pPr marL="0" indent="0" algn="l">
              <a:buNone/>
            </a:pPr>
            <a:r>
              <a:rPr lang="en-US" sz="10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AI生成异常分析和处理建议</a:t>
            </a:r>
            <a:endParaRPr lang="en-US" sz="1040" dirty="0"/>
          </a:p>
        </p:txBody>
      </p:sp>
      <p:sp>
        <p:nvSpPr>
          <p:cNvPr id="20" name="Text 18"/>
          <p:cNvSpPr/>
          <p:nvPr/>
        </p:nvSpPr>
        <p:spPr>
          <a:xfrm>
            <a:off x="6492240" y="4206240"/>
            <a:ext cx="4617720" cy="141732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数据：device_info、device_status_record、第三方塔吊接口、设备告警数据、维保记录</a:t>
            </a:r>
            <a:endParaRPr lang="en-US" sz="1010" dirty="0"/>
          </a:p>
          <a:p>
            <a:pPr marL="0" indent="0" algn="l">
              <a:buNone/>
            </a:pPr>
            <a:r>
              <a:rPr lang="en-US" sz="101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输出：设备异常摘要、塔吊状态分析、维保提醒、设备风险排序、设备日报</a:t>
            </a:r>
            <a:endParaRPr lang="en-US" sz="1010" dirty="0"/>
          </a:p>
        </p:txBody>
      </p:sp>
      <p:sp>
        <p:nvSpPr>
          <p:cNvPr id="21" name="Text 19"/>
          <p:cNvSpPr/>
          <p:nvPr/>
        </p:nvSpPr>
        <p:spPr>
          <a:xfrm>
            <a:off x="11155680" y="6492240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19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3093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AI 通用应用能力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11201400" cy="0"/>
          </a:xfrm>
          <a:prstGeom prst="line">
            <a:avLst/>
          </a:prstGeom>
          <a:noFill/>
          <a:ln w="10160">
            <a:solidFill>
              <a:srgbClr val="DDE5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AI风险预警与整改建议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53949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0" y="1325880"/>
            <a:ext cx="525780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3502152"/>
            <a:ext cx="5394960" cy="2578608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0" y="3502152"/>
            <a:ext cx="5257800" cy="2578608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1600200"/>
            <a:ext cx="45720" cy="228600"/>
          </a:xfrm>
          <a:prstGeom prst="rect">
            <a:avLst/>
          </a:prstGeom>
          <a:solidFill>
            <a:srgbClr val="1769E0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591056"/>
            <a:ext cx="464515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6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能力说明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92240" y="1600200"/>
            <a:ext cx="45720" cy="228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01968" y="1591056"/>
            <a:ext cx="450799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可辅助工作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3776472"/>
            <a:ext cx="4572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3767328"/>
            <a:ext cx="464515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落地实现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92240" y="3776472"/>
            <a:ext cx="45720" cy="228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01968" y="3767328"/>
            <a:ext cx="450799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C3A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数据依赖 / 输出成果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2029968"/>
            <a:ext cx="4709160" cy="93268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综合视频、人员、安全、资料、设备、进度等多类数据，形成项目风险判断和整改建议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识别视频点位缺失、在线率低、未教育人员、资料缺失、设备离线、流程未完成等风险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辅助生成整改任务初稿</a:t>
            </a:r>
            <a:endParaRPr lang="en-US" sz="1070" dirty="0"/>
          </a:p>
        </p:txBody>
      </p:sp>
      <p:sp>
        <p:nvSpPr>
          <p:cNvPr id="18" name="Text 16"/>
          <p:cNvSpPr/>
          <p:nvPr/>
        </p:nvSpPr>
        <p:spPr>
          <a:xfrm>
            <a:off x="6492240" y="2029968"/>
            <a:ext cx="4617720" cy="93268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辅助项目经理、管理层、安全员形成风险优先级和督办事项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推动风险从发现到整改闭环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形成风险原因说明和处理建议</a:t>
            </a:r>
            <a:endParaRPr lang="en-US" sz="1070" dirty="0"/>
          </a:p>
        </p:txBody>
      </p:sp>
      <p:sp>
        <p:nvSpPr>
          <p:cNvPr id="19" name="Text 17"/>
          <p:cNvSpPr/>
          <p:nvPr/>
        </p:nvSpPr>
        <p:spPr>
          <a:xfrm>
            <a:off x="914400" y="4206240"/>
            <a:ext cx="4709160" cy="141732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建立风险指标库并设置权重</a:t>
            </a:r>
            <a:endParaRPr lang="en-US" sz="1040" dirty="0"/>
          </a:p>
          <a:p>
            <a:pPr marL="0" indent="0" algn="l">
              <a:buNone/>
            </a:pPr>
            <a:r>
              <a:rPr lang="en-US" sz="10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规则引擎计算风险分</a:t>
            </a:r>
            <a:endParaRPr lang="en-US" sz="1040" dirty="0"/>
          </a:p>
          <a:p>
            <a:pPr marL="0" indent="0" algn="l">
              <a:buNone/>
            </a:pPr>
            <a:r>
              <a:rPr lang="en-US" sz="10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AI解释风险原因并生成整改建议</a:t>
            </a:r>
            <a:endParaRPr lang="en-US" sz="1040" dirty="0"/>
          </a:p>
          <a:p>
            <a:pPr marL="0" indent="0" algn="l">
              <a:buNone/>
            </a:pPr>
            <a:r>
              <a:rPr lang="en-US" sz="10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人工确认后派发整改任务并归档留痕</a:t>
            </a:r>
            <a:endParaRPr lang="en-US" sz="1040" dirty="0"/>
          </a:p>
        </p:txBody>
      </p:sp>
      <p:sp>
        <p:nvSpPr>
          <p:cNvPr id="20" name="Text 18"/>
          <p:cNvSpPr/>
          <p:nvPr/>
        </p:nvSpPr>
        <p:spPr>
          <a:xfrm>
            <a:off x="6492240" y="4206240"/>
            <a:ext cx="4617720" cy="141732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数据：风险指标库、项目数据、摄像头数据、人员安全数据、资料数据、设备数据、整改任务表</a:t>
            </a:r>
            <a:endParaRPr lang="en-US" sz="1010" dirty="0"/>
          </a:p>
          <a:p>
            <a:pPr marL="0" indent="0" algn="l">
              <a:buNone/>
            </a:pPr>
            <a:r>
              <a:rPr lang="en-US" sz="101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输出：风险等级、风险原因、整改建议、任务初稿、督办清单、闭环报告</a:t>
            </a:r>
            <a:endParaRPr lang="en-US" sz="1010" dirty="0"/>
          </a:p>
        </p:txBody>
      </p:sp>
      <p:sp>
        <p:nvSpPr>
          <p:cNvPr id="21" name="Text 19"/>
          <p:cNvSpPr/>
          <p:nvPr/>
        </p:nvSpPr>
        <p:spPr>
          <a:xfrm>
            <a:off x="11155680" y="6492240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3093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AI 通用应用能力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11201400" cy="0"/>
          </a:xfrm>
          <a:prstGeom prst="line">
            <a:avLst/>
          </a:prstGeom>
          <a:noFill/>
          <a:ln w="10160">
            <a:solidFill>
              <a:srgbClr val="DDE5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AI知识库问答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53949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0" y="1325880"/>
            <a:ext cx="525780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3502152"/>
            <a:ext cx="5394960" cy="2578608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0" y="3502152"/>
            <a:ext cx="5257800" cy="2578608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1600200"/>
            <a:ext cx="45720" cy="228600"/>
          </a:xfrm>
          <a:prstGeom prst="rect">
            <a:avLst/>
          </a:prstGeom>
          <a:solidFill>
            <a:srgbClr val="1769E0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591056"/>
            <a:ext cx="464515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6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能力说明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92240" y="1600200"/>
            <a:ext cx="45720" cy="228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01968" y="1591056"/>
            <a:ext cx="450799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可辅助工作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3776472"/>
            <a:ext cx="4572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3767328"/>
            <a:ext cx="464515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落地实现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92240" y="3776472"/>
            <a:ext cx="45720" cy="228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01968" y="3767328"/>
            <a:ext cx="450799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C3A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数据依赖 / 输出成果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2029968"/>
            <a:ext cx="4709160" cy="93268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支持政策规范、项目制度、操作手册、系统使用说明等问答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可回答视频接入点位、在线率要求、存储天数、GB28181配置流程等问题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也可回答系统操作问题</a:t>
            </a:r>
            <a:endParaRPr lang="en-US" sz="1070" dirty="0"/>
          </a:p>
        </p:txBody>
      </p:sp>
      <p:sp>
        <p:nvSpPr>
          <p:cNvPr id="18" name="Text 16"/>
          <p:cNvSpPr/>
          <p:nvPr/>
        </p:nvSpPr>
        <p:spPr>
          <a:xfrm>
            <a:off x="6492240" y="2029968"/>
            <a:ext cx="4617720" cy="93268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辅助标准员、安全员、项目实施人员和平台用户快速查询制度、规范和流程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减少人工翻找文件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提高操作一致性</a:t>
            </a:r>
            <a:endParaRPr lang="en-US" sz="1070" dirty="0"/>
          </a:p>
        </p:txBody>
      </p:sp>
      <p:sp>
        <p:nvSpPr>
          <p:cNvPr id="19" name="Text 17"/>
          <p:cNvSpPr/>
          <p:nvPr/>
        </p:nvSpPr>
        <p:spPr>
          <a:xfrm>
            <a:off x="914400" y="4206240"/>
            <a:ext cx="4709160" cy="141732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建立政策文件、监管通知、视频接入操作手册、系统操作手册、项目制度、常见问题知识库</a:t>
            </a:r>
            <a:endParaRPr lang="en-US" sz="1040" dirty="0"/>
          </a:p>
          <a:p>
            <a:pPr marL="0" indent="0" algn="l">
              <a:buNone/>
            </a:pPr>
            <a:r>
              <a:rPr lang="en-US" sz="10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采用RAG检索增强问答</a:t>
            </a:r>
            <a:endParaRPr lang="en-US" sz="1040" dirty="0"/>
          </a:p>
          <a:p>
            <a:pPr marL="0" indent="0" algn="l">
              <a:buNone/>
            </a:pPr>
            <a:r>
              <a:rPr lang="en-US" sz="10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回答时返回依据来源</a:t>
            </a:r>
            <a:endParaRPr lang="en-US" sz="1040" dirty="0"/>
          </a:p>
        </p:txBody>
      </p:sp>
      <p:sp>
        <p:nvSpPr>
          <p:cNvPr id="20" name="Text 18"/>
          <p:cNvSpPr/>
          <p:nvPr/>
        </p:nvSpPr>
        <p:spPr>
          <a:xfrm>
            <a:off x="6492240" y="4206240"/>
            <a:ext cx="4617720" cy="141732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数据：政策文件、操作手册、系统说明文档、项目制度、知识库向量索引</a:t>
            </a:r>
            <a:endParaRPr lang="en-US" sz="1010" dirty="0"/>
          </a:p>
          <a:p>
            <a:pPr marL="0" indent="0" algn="l">
              <a:buNone/>
            </a:pPr>
            <a:r>
              <a:rPr lang="en-US" sz="101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输出：规范问答、操作指引、流程说明、制度解读、检查清单</a:t>
            </a:r>
            <a:endParaRPr lang="en-US" sz="1010" dirty="0"/>
          </a:p>
        </p:txBody>
      </p:sp>
      <p:sp>
        <p:nvSpPr>
          <p:cNvPr id="21" name="Text 19"/>
          <p:cNvSpPr/>
          <p:nvPr/>
        </p:nvSpPr>
        <p:spPr>
          <a:xfrm>
            <a:off x="11155680" y="6492240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21</a:t>
            </a:r>
            <a:endParaRPr lang="en-US" sz="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3093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AI 通用应用能力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11201400" cy="0"/>
          </a:xfrm>
          <a:prstGeom prst="line">
            <a:avLst/>
          </a:prstGeom>
          <a:noFill/>
          <a:ln w="10160">
            <a:solidFill>
              <a:srgbClr val="DDE5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+ BIM 虚拟建造助手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53949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0" y="1325880"/>
            <a:ext cx="525780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3502152"/>
            <a:ext cx="5394960" cy="2578608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0" y="3502152"/>
            <a:ext cx="5257800" cy="2578608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1600200"/>
            <a:ext cx="45720" cy="228600"/>
          </a:xfrm>
          <a:prstGeom prst="rect">
            <a:avLst/>
          </a:prstGeom>
          <a:solidFill>
            <a:srgbClr val="1769E0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591056"/>
            <a:ext cx="464515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6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能力说明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92240" y="1600200"/>
            <a:ext cx="45720" cy="228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01968" y="1591056"/>
            <a:ext cx="450799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可辅助工作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3776472"/>
            <a:ext cx="4572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3767328"/>
            <a:ext cx="464515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落地实现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92240" y="3776472"/>
            <a:ext cx="45720" cy="228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01968" y="3767328"/>
            <a:ext cx="450799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C3A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数据依赖 / 输出成果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2029968"/>
            <a:ext cx="4709160" cy="93268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与BIM模型、进度计划、图纸资料、施工方案结合，辅助模型查询、资料关联、方案分析和虚拟验收预检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可支持BIM模型问答、构件信息查询、施工方案风险分析、VR安全教育脚本生成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依赖BIM模型和构件属性数据</a:t>
            </a:r>
            <a:endParaRPr lang="en-US" sz="1070" dirty="0"/>
          </a:p>
        </p:txBody>
      </p:sp>
      <p:sp>
        <p:nvSpPr>
          <p:cNvPr id="18" name="Text 16"/>
          <p:cNvSpPr/>
          <p:nvPr/>
        </p:nvSpPr>
        <p:spPr>
          <a:xfrm>
            <a:off x="6492240" y="2029968"/>
            <a:ext cx="4617720" cy="93268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辅助技术负责人、项目总工、施工员、质量员进行模型查询和技术资料理解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辅助虚拟建造、施工方案分析和验收准备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提升BIM数据使用效率</a:t>
            </a:r>
            <a:endParaRPr lang="en-US" sz="1070" dirty="0"/>
          </a:p>
        </p:txBody>
      </p:sp>
      <p:sp>
        <p:nvSpPr>
          <p:cNvPr id="19" name="Text 17"/>
          <p:cNvSpPr/>
          <p:nvPr/>
        </p:nvSpPr>
        <p:spPr>
          <a:xfrm>
            <a:off x="914400" y="4206240"/>
            <a:ext cx="4709160" cy="141732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解析BIM模型并抽取构件属性</a:t>
            </a:r>
            <a:endParaRPr lang="en-US" sz="1040" dirty="0"/>
          </a:p>
          <a:p>
            <a:pPr marL="0" indent="0" algn="l">
              <a:buNone/>
            </a:pPr>
            <a:r>
              <a:rPr lang="en-US" sz="10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建立构件数据库并关联图纸、资料、进度、问题</a:t>
            </a:r>
            <a:endParaRPr lang="en-US" sz="1040" dirty="0"/>
          </a:p>
          <a:p>
            <a:pPr marL="0" indent="0" algn="l">
              <a:buNone/>
            </a:pPr>
            <a:r>
              <a:rPr lang="en-US" sz="10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接入大模型问答，通过自然语言查询模型信息</a:t>
            </a:r>
            <a:endParaRPr lang="en-US" sz="1040" dirty="0"/>
          </a:p>
        </p:txBody>
      </p:sp>
      <p:sp>
        <p:nvSpPr>
          <p:cNvPr id="20" name="Text 18"/>
          <p:cNvSpPr/>
          <p:nvPr/>
        </p:nvSpPr>
        <p:spPr>
          <a:xfrm>
            <a:off x="6492240" y="4206240"/>
            <a:ext cx="4617720" cy="141732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数据：BIM模型文件、构件属性数据、图纸文件、施工方案、进度计划、验收资料</a:t>
            </a:r>
            <a:endParaRPr lang="en-US" sz="1010" dirty="0"/>
          </a:p>
          <a:p>
            <a:pPr marL="0" indent="0" algn="l">
              <a:buNone/>
            </a:pPr>
            <a:r>
              <a:rPr lang="en-US" sz="101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输出：BIM问答、构件资料关联、方案风险提示、虚拟验收预检、VR培训脚本</a:t>
            </a:r>
            <a:endParaRPr lang="en-US" sz="1010" dirty="0"/>
          </a:p>
        </p:txBody>
      </p:sp>
      <p:sp>
        <p:nvSpPr>
          <p:cNvPr id="21" name="Text 19"/>
          <p:cNvSpPr/>
          <p:nvPr/>
        </p:nvSpPr>
        <p:spPr>
          <a:xfrm>
            <a:off x="11155680" y="6492240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22</a:t>
            </a:r>
            <a:endParaRPr lang="en-US" sz="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3093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AI 通用应用能力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11201400" cy="0"/>
          </a:xfrm>
          <a:prstGeom prst="line">
            <a:avLst/>
          </a:prstGeom>
          <a:noFill/>
          <a:ln w="10160">
            <a:solidFill>
              <a:srgbClr val="DDE5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AI智能装备分析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53949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0" y="1325880"/>
            <a:ext cx="525780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3502152"/>
            <a:ext cx="5394960" cy="2578608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0" y="3502152"/>
            <a:ext cx="5257800" cy="2578608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1600200"/>
            <a:ext cx="45720" cy="228600"/>
          </a:xfrm>
          <a:prstGeom prst="rect">
            <a:avLst/>
          </a:prstGeom>
          <a:solidFill>
            <a:srgbClr val="1769E0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591056"/>
            <a:ext cx="464515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6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能力说明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92240" y="1600200"/>
            <a:ext cx="45720" cy="228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01968" y="1591056"/>
            <a:ext cx="450799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可辅助工作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3776472"/>
            <a:ext cx="4572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3767328"/>
            <a:ext cx="464515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落地实现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92240" y="3776472"/>
            <a:ext cx="45720" cy="228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01968" y="3767328"/>
            <a:ext cx="450799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C3A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数据依赖 / 输出成果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2029968"/>
            <a:ext cx="4709160" cy="93268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对接抹灰机器人、墙板安装机器人、混凝土整平/抹平机器人、高空焊接机器人等智能装备数据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辅助作业效率、设备状态、故障、质量和调度建议分析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评估智能装备应用效果和推广价值</a:t>
            </a:r>
            <a:endParaRPr lang="en-US" sz="1070" dirty="0"/>
          </a:p>
        </p:txBody>
      </p:sp>
      <p:sp>
        <p:nvSpPr>
          <p:cNvPr id="18" name="Text 16"/>
          <p:cNvSpPr/>
          <p:nvPr/>
        </p:nvSpPr>
        <p:spPr>
          <a:xfrm>
            <a:off x="6492240" y="2029968"/>
            <a:ext cx="4617720" cy="93268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辅助机械员、项目经理、管理层了解装备利用率、作业效率和设备状态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辅助形成智能装备应用报告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支撑智慧建造智能装备方向</a:t>
            </a:r>
            <a:endParaRPr lang="en-US" sz="1070" dirty="0"/>
          </a:p>
        </p:txBody>
      </p:sp>
      <p:sp>
        <p:nvSpPr>
          <p:cNvPr id="19" name="Text 17"/>
          <p:cNvSpPr/>
          <p:nvPr/>
        </p:nvSpPr>
        <p:spPr>
          <a:xfrm>
            <a:off x="914400" y="4206240"/>
            <a:ext cx="4709160" cy="141732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建立智能装备台账</a:t>
            </a:r>
            <a:endParaRPr lang="en-US" sz="1040" dirty="0"/>
          </a:p>
          <a:p>
            <a:pPr marL="0" indent="0" algn="l">
              <a:buNone/>
            </a:pPr>
            <a:r>
              <a:rPr lang="en-US" sz="10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接入装备供应商提供的作业面积、时长、位置、故障、质量检测、状态数据</a:t>
            </a:r>
            <a:endParaRPr lang="en-US" sz="1040" dirty="0"/>
          </a:p>
          <a:p>
            <a:pPr marL="0" indent="0" algn="l">
              <a:buNone/>
            </a:pPr>
            <a:r>
              <a:rPr lang="en-US" sz="10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AI生成效率分析、设备建议和应用报告</a:t>
            </a:r>
            <a:endParaRPr lang="en-US" sz="1040" dirty="0"/>
          </a:p>
        </p:txBody>
      </p:sp>
      <p:sp>
        <p:nvSpPr>
          <p:cNvPr id="20" name="Text 18"/>
          <p:cNvSpPr/>
          <p:nvPr/>
        </p:nvSpPr>
        <p:spPr>
          <a:xfrm>
            <a:off x="6492240" y="4206240"/>
            <a:ext cx="4617720" cy="141732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数据：智能装备台账、设备作业记录、故障记录、质量检测数据、设备状态数据</a:t>
            </a:r>
            <a:endParaRPr lang="en-US" sz="1010" dirty="0"/>
          </a:p>
          <a:p>
            <a:pPr marL="0" indent="0" algn="l">
              <a:buNone/>
            </a:pPr>
            <a:r>
              <a:rPr lang="en-US" sz="101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输出：作业日报、效率报告、故障分析、调度建议、推广价值分析</a:t>
            </a:r>
            <a:endParaRPr lang="en-US" sz="1010" dirty="0"/>
          </a:p>
        </p:txBody>
      </p:sp>
      <p:sp>
        <p:nvSpPr>
          <p:cNvPr id="21" name="Text 19"/>
          <p:cNvSpPr/>
          <p:nvPr/>
        </p:nvSpPr>
        <p:spPr>
          <a:xfrm>
            <a:off x="11155680" y="6492240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23</a:t>
            </a:r>
            <a:endParaRPr lang="en-US" sz="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7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274A"/>
          </a:solidFill>
          <a:ln w="12700">
            <a:solidFill>
              <a:srgbClr val="0927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143000"/>
            <a:ext cx="11887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FD8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874520"/>
            <a:ext cx="941832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岗位型 AI 工作助手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13232" y="2788920"/>
            <a:ext cx="8961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7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将通用AI能力嵌入项目岗位工作台，形成面向角色的工作辅助。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13232" y="3401568"/>
            <a:ext cx="4206240" cy="0"/>
          </a:xfrm>
          <a:prstGeom prst="line">
            <a:avLst/>
          </a:prstGeom>
          <a:noFill/>
          <a:ln w="3175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0" y="6492240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24</a:t>
            </a:r>
            <a:endParaRPr lang="en-US" sz="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3093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岗位型 AI 工作助手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11201400" cy="0"/>
          </a:xfrm>
          <a:prstGeom prst="line">
            <a:avLst/>
          </a:prstGeom>
          <a:noFill/>
          <a:ln w="10160">
            <a:solidFill>
              <a:srgbClr val="DDE5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岗位型 AI 工作助手总览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10698480" cy="356616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7620">
            <a:solidFill>
              <a:srgbClr val="E6E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399032"/>
            <a:ext cx="1920240" cy="16459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76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项目经理</a:t>
            </a:r>
            <a:endParaRPr lang="en-US" sz="960" dirty="0"/>
          </a:p>
        </p:txBody>
      </p:sp>
      <p:sp>
        <p:nvSpPr>
          <p:cNvPr id="7" name="Text 5"/>
          <p:cNvSpPr/>
          <p:nvPr/>
        </p:nvSpPr>
        <p:spPr>
          <a:xfrm>
            <a:off x="2944368" y="1399032"/>
            <a:ext cx="8046720" cy="16459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项目简报、风险分析、整改跟踪、领导汇报</a:t>
            </a:r>
            <a:endParaRPr lang="en-US" sz="960" dirty="0"/>
          </a:p>
        </p:txBody>
      </p:sp>
      <p:sp>
        <p:nvSpPr>
          <p:cNvPr id="8" name="Shape 6"/>
          <p:cNvSpPr/>
          <p:nvPr/>
        </p:nvSpPr>
        <p:spPr>
          <a:xfrm>
            <a:off x="731520" y="1737360"/>
            <a:ext cx="10698480" cy="356616"/>
          </a:xfrm>
          <a:prstGeom prst="roundRect">
            <a:avLst>
              <a:gd name="adj" fmla="val 15385"/>
            </a:avLst>
          </a:prstGeom>
          <a:solidFill>
            <a:srgbClr val="F1F6FF"/>
          </a:solidFill>
          <a:ln w="7620">
            <a:solidFill>
              <a:srgbClr val="E6E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810512"/>
            <a:ext cx="1920240" cy="16459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76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安全员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2944368" y="1810512"/>
            <a:ext cx="8046720" cy="16459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安全教育、视频巡查、安全资料、隐患整改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731520" y="2148840"/>
            <a:ext cx="10698480" cy="356616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7620">
            <a:solidFill>
              <a:srgbClr val="E6E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2221992"/>
            <a:ext cx="1920240" cy="16459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76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质量员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2944368" y="2221992"/>
            <a:ext cx="8046720" cy="16459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质量问题、整改通知、验收资料、质量记录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731520" y="2560320"/>
            <a:ext cx="10698480" cy="356616"/>
          </a:xfrm>
          <a:prstGeom prst="roundRect">
            <a:avLst>
              <a:gd name="adj" fmla="val 15385"/>
            </a:avLst>
          </a:prstGeom>
          <a:solidFill>
            <a:srgbClr val="F1F6FF"/>
          </a:solidFill>
          <a:ln w="7620">
            <a:solidFill>
              <a:srgbClr val="E6E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2633472"/>
            <a:ext cx="1920240" cy="16459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76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施工员</a:t>
            </a:r>
            <a:endParaRPr lang="en-US" sz="960" dirty="0"/>
          </a:p>
        </p:txBody>
      </p:sp>
      <p:sp>
        <p:nvSpPr>
          <p:cNvPr id="16" name="Text 14"/>
          <p:cNvSpPr/>
          <p:nvPr/>
        </p:nvSpPr>
        <p:spPr>
          <a:xfrm>
            <a:off x="2944368" y="2633472"/>
            <a:ext cx="8046720" cy="16459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施工日志、现场记录、进度说明、班组事项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731520" y="2971800"/>
            <a:ext cx="10698480" cy="356616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7620">
            <a:solidFill>
              <a:srgbClr val="E6E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3044952"/>
            <a:ext cx="1920240" cy="16459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76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资料员</a:t>
            </a:r>
            <a:endParaRPr lang="en-US" sz="960" dirty="0"/>
          </a:p>
        </p:txBody>
      </p:sp>
      <p:sp>
        <p:nvSpPr>
          <p:cNvPr id="19" name="Text 17"/>
          <p:cNvSpPr/>
          <p:nvPr/>
        </p:nvSpPr>
        <p:spPr>
          <a:xfrm>
            <a:off x="2944368" y="3044952"/>
            <a:ext cx="8046720" cy="16459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资料分类、摘要、归档、缺失检查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731520" y="3383280"/>
            <a:ext cx="10698480" cy="356616"/>
          </a:xfrm>
          <a:prstGeom prst="roundRect">
            <a:avLst>
              <a:gd name="adj" fmla="val 15385"/>
            </a:avLst>
          </a:prstGeom>
          <a:solidFill>
            <a:srgbClr val="F1F6FF"/>
          </a:solidFill>
          <a:ln w="7620">
            <a:solidFill>
              <a:srgbClr val="E6E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3456432"/>
            <a:ext cx="1920240" cy="16459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76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材料员</a:t>
            </a:r>
            <a:endParaRPr lang="en-US" sz="960" dirty="0"/>
          </a:p>
        </p:txBody>
      </p:sp>
      <p:sp>
        <p:nvSpPr>
          <p:cNvPr id="22" name="Text 20"/>
          <p:cNvSpPr/>
          <p:nvPr/>
        </p:nvSpPr>
        <p:spPr>
          <a:xfrm>
            <a:off x="2944368" y="3456432"/>
            <a:ext cx="8046720" cy="16459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材料资料识别、材料台账、消耗分析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731520" y="3794760"/>
            <a:ext cx="10698480" cy="356616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7620">
            <a:solidFill>
              <a:srgbClr val="E6ED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688" y="3867912"/>
            <a:ext cx="1920240" cy="16459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76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机械员</a:t>
            </a:r>
            <a:endParaRPr lang="en-US" sz="960" dirty="0"/>
          </a:p>
        </p:txBody>
      </p:sp>
      <p:sp>
        <p:nvSpPr>
          <p:cNvPr id="25" name="Text 23"/>
          <p:cNvSpPr/>
          <p:nvPr/>
        </p:nvSpPr>
        <p:spPr>
          <a:xfrm>
            <a:off x="2944368" y="3867912"/>
            <a:ext cx="8046720" cy="16459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设备状态、维保提醒、异常分析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731520" y="4206240"/>
            <a:ext cx="10698480" cy="356616"/>
          </a:xfrm>
          <a:prstGeom prst="roundRect">
            <a:avLst>
              <a:gd name="adj" fmla="val 15385"/>
            </a:avLst>
          </a:prstGeom>
          <a:solidFill>
            <a:srgbClr val="F1F6FF"/>
          </a:solidFill>
          <a:ln w="7620">
            <a:solidFill>
              <a:srgbClr val="E6ED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4279392"/>
            <a:ext cx="1920240" cy="16459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76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劳务员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2944368" y="4279392"/>
            <a:ext cx="8046720" cy="16459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人员核对、教育提醒、班组统计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731520" y="4617720"/>
            <a:ext cx="10698480" cy="356616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7620">
            <a:solidFill>
              <a:srgbClr val="E6ED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2688" y="4690872"/>
            <a:ext cx="1920240" cy="16459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76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标准员</a:t>
            </a:r>
            <a:endParaRPr lang="en-US" sz="960" dirty="0"/>
          </a:p>
        </p:txBody>
      </p:sp>
      <p:sp>
        <p:nvSpPr>
          <p:cNvPr id="31" name="Text 29"/>
          <p:cNvSpPr/>
          <p:nvPr/>
        </p:nvSpPr>
        <p:spPr>
          <a:xfrm>
            <a:off x="2944368" y="4690872"/>
            <a:ext cx="8046720" cy="16459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规范问答、检查清单、制度解读</a:t>
            </a:r>
            <a:endParaRPr lang="en-US" sz="960" dirty="0"/>
          </a:p>
        </p:txBody>
      </p:sp>
      <p:sp>
        <p:nvSpPr>
          <p:cNvPr id="32" name="Shape 30"/>
          <p:cNvSpPr/>
          <p:nvPr/>
        </p:nvSpPr>
        <p:spPr>
          <a:xfrm>
            <a:off x="731520" y="5029200"/>
            <a:ext cx="10698480" cy="356616"/>
          </a:xfrm>
          <a:prstGeom prst="roundRect">
            <a:avLst>
              <a:gd name="adj" fmla="val 15385"/>
            </a:avLst>
          </a:prstGeom>
          <a:solidFill>
            <a:srgbClr val="F1F6FF"/>
          </a:solidFill>
          <a:ln w="7620">
            <a:solidFill>
              <a:srgbClr val="E6ED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2688" y="5102352"/>
            <a:ext cx="1920240" cy="16459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76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技术负责人/总工</a:t>
            </a:r>
            <a:endParaRPr lang="en-US" sz="960" dirty="0"/>
          </a:p>
        </p:txBody>
      </p:sp>
      <p:sp>
        <p:nvSpPr>
          <p:cNvPr id="34" name="Text 32"/>
          <p:cNvSpPr/>
          <p:nvPr/>
        </p:nvSpPr>
        <p:spPr>
          <a:xfrm>
            <a:off x="2944368" y="5102352"/>
            <a:ext cx="8046720" cy="16459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技术资料、方案摘要、BIM问答、技术交底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731520" y="5440680"/>
            <a:ext cx="10698480" cy="356616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7620">
            <a:solidFill>
              <a:srgbClr val="E6ED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2688" y="5513832"/>
            <a:ext cx="1920240" cy="16459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76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管理层</a:t>
            </a:r>
            <a:endParaRPr lang="en-US" sz="960" dirty="0"/>
          </a:p>
        </p:txBody>
      </p:sp>
      <p:sp>
        <p:nvSpPr>
          <p:cNvPr id="37" name="Text 35"/>
          <p:cNvSpPr/>
          <p:nvPr/>
        </p:nvSpPr>
        <p:spPr>
          <a:xfrm>
            <a:off x="2944368" y="5513832"/>
            <a:ext cx="8046720" cy="16459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多项目总览、风险排行、督办建议</a:t>
            </a:r>
            <a:endParaRPr lang="en-US" sz="960" dirty="0"/>
          </a:p>
        </p:txBody>
      </p:sp>
      <p:sp>
        <p:nvSpPr>
          <p:cNvPr id="38" name="Text 36"/>
          <p:cNvSpPr/>
          <p:nvPr/>
        </p:nvSpPr>
        <p:spPr>
          <a:xfrm>
            <a:off x="713232" y="6199632"/>
            <a:ext cx="10424160" cy="237744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同一套 AI 能力不单独割裂建设，而是按岗位权限与业务页面进行差异化呈现。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1155680" y="6492240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25</a:t>
            </a:r>
            <a:endParaRPr lang="en-US" sz="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3093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岗位型 AI 工作助手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11201400" cy="0"/>
          </a:xfrm>
          <a:prstGeom prst="line">
            <a:avLst/>
          </a:prstGeom>
          <a:noFill/>
          <a:ln w="10160">
            <a:solidFill>
              <a:srgbClr val="DDE5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项目经理 AI 助手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3429000" cy="48006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370832" y="1325880"/>
            <a:ext cx="3429000" cy="48006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101584" y="1325880"/>
            <a:ext cx="3429000" cy="48006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1600200"/>
            <a:ext cx="45720" cy="228600"/>
          </a:xfrm>
          <a:prstGeom prst="rect">
            <a:avLst/>
          </a:prstGeom>
          <a:solidFill>
            <a:srgbClr val="1769E0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591056"/>
            <a:ext cx="281635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6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关注内容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45152" y="1600200"/>
            <a:ext cx="45720" cy="228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591056"/>
            <a:ext cx="281635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AI辅助内容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375904" y="1600200"/>
            <a:ext cx="4572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85632" y="1591056"/>
            <a:ext cx="281635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落地实现 / 输出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2084832"/>
            <a:ext cx="2788920" cy="329184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项目总体进度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安全风险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质量问题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人员情况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设备状态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资料闭环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今日重点事项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整改任务状态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45152" y="2084832"/>
            <a:ext cx="2788920" cy="329184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生成项目每日简报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汇总安全、质量、设备、资料异常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识别今日重点处理事项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生成周例会汇报材料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分析项目风险等级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整理整改闭环情况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生成领导汇报稿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375904" y="2084832"/>
            <a:ext cx="2788920" cy="329184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接口：/api/v1/ai/project-manager/workbench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返回今日问题、未闭环问题、各类异常、资料缺失、人员教育状态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输出：今日工作建议、风险摘要、项目汇报材料、整改跟踪清单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11155680" y="6492240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26</a:t>
            </a:r>
            <a:endParaRPr lang="en-US" sz="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3093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岗位型 AI 工作助手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11201400" cy="0"/>
          </a:xfrm>
          <a:prstGeom prst="line">
            <a:avLst/>
          </a:prstGeom>
          <a:noFill/>
          <a:ln w="10160">
            <a:solidFill>
              <a:srgbClr val="DDE5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安全员 AI 助手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3429000" cy="48006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370832" y="1325880"/>
            <a:ext cx="3429000" cy="48006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101584" y="1325880"/>
            <a:ext cx="3429000" cy="48006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1600200"/>
            <a:ext cx="45720" cy="228600"/>
          </a:xfrm>
          <a:prstGeom prst="rect">
            <a:avLst/>
          </a:prstGeom>
          <a:solidFill>
            <a:srgbClr val="1769E0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591056"/>
            <a:ext cx="281635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6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关注内容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45152" y="1600200"/>
            <a:ext cx="45720" cy="228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591056"/>
            <a:ext cx="281635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AI辅助内容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375904" y="1600200"/>
            <a:ext cx="4572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85632" y="1591056"/>
            <a:ext cx="281635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落地实现 / 输出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2084832"/>
            <a:ext cx="2788920" cy="329184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安全三级教育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临时人员进场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现场安全隐患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视频巡查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危大工程区域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整改闭环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安全资料归档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安全检查记录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45152" y="2084832"/>
            <a:ext cx="2788920" cy="329184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检查未完成安全教育人员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识别安全教育签字文件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生成安全教育记录摘要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检查安全资料缺失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分析视频截图明显风险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生成安全巡查记录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生成整改通知初稿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生成安全日报/周报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375904" y="2084832"/>
            <a:ext cx="2788920" cy="329184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接入临时人员、安全教育批次、培训资料、签字文件、视频截图和整改任务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输出：待教育清单、安全教育完成情况、安全巡查记录、安全资料缺失提醒、安全日报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11155680" y="6492240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27</a:t>
            </a:r>
            <a:endParaRPr lang="en-US" sz="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3093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岗位型 AI 工作助手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11201400" cy="0"/>
          </a:xfrm>
          <a:prstGeom prst="line">
            <a:avLst/>
          </a:prstGeom>
          <a:noFill/>
          <a:ln w="10160">
            <a:solidFill>
              <a:srgbClr val="DDE5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质量员 AI 助手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3429000" cy="48006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370832" y="1325880"/>
            <a:ext cx="3429000" cy="48006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101584" y="1325880"/>
            <a:ext cx="3429000" cy="48006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1600200"/>
            <a:ext cx="45720" cy="228600"/>
          </a:xfrm>
          <a:prstGeom prst="rect">
            <a:avLst/>
          </a:prstGeom>
          <a:solidFill>
            <a:srgbClr val="1769E0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591056"/>
            <a:ext cx="281635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6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关注内容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45152" y="1600200"/>
            <a:ext cx="45720" cy="228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591056"/>
            <a:ext cx="281635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AI辅助内容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375904" y="1600200"/>
            <a:ext cx="4572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85632" y="1591056"/>
            <a:ext cx="281635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落地实现 / 输出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2084832"/>
            <a:ext cx="2788920" cy="329184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质量检查记录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质量整改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施工工序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验收资料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现场照片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质量问题闭环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质量通病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材料质量证明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45152" y="2084832"/>
            <a:ext cx="2788920" cy="329184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整理质量检查记录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生成质量整改通知初稿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归类质量问题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提取质量问题照片说明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生成质量周报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检查验收资料是否缺失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汇总质量问题闭环状态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375904" y="2084832"/>
            <a:ext cx="2788920" cy="329184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接入质量检查记录、质量整改任务、照片附件、质量资料分类和验收资料清单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输出：质量问题摘要、整改通知、资料完整性检查、质量周报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11155680" y="6492240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28</a:t>
            </a:r>
            <a:endParaRPr lang="en-US" sz="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3093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岗位型 AI 工作助手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11201400" cy="0"/>
          </a:xfrm>
          <a:prstGeom prst="line">
            <a:avLst/>
          </a:prstGeom>
          <a:noFill/>
          <a:ln w="10160">
            <a:solidFill>
              <a:srgbClr val="DDE5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施工员 AI 助手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3429000" cy="48006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370832" y="1325880"/>
            <a:ext cx="3429000" cy="48006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101584" y="1325880"/>
            <a:ext cx="3429000" cy="48006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1600200"/>
            <a:ext cx="45720" cy="228600"/>
          </a:xfrm>
          <a:prstGeom prst="rect">
            <a:avLst/>
          </a:prstGeom>
          <a:solidFill>
            <a:srgbClr val="1769E0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591056"/>
            <a:ext cx="281635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6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关注内容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45152" y="1600200"/>
            <a:ext cx="45720" cy="228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591056"/>
            <a:ext cx="281635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AI辅助内容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375904" y="1600200"/>
            <a:ext cx="4572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85632" y="1591056"/>
            <a:ext cx="281635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落地实现 / 输出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2084832"/>
            <a:ext cx="2788920" cy="329184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每日施工进度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作业面情况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班组施工情况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施工日志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现场协调事项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材料到场情况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机械使用情况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施工问题记录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45152" y="2084832"/>
            <a:ext cx="2788920" cy="329184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生成施工日志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汇总当天施工内容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整理现场问题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生成班组工作记录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根据照片/视频截图生成现场描述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提醒未完成施工事项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生成明日施工计划初稿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375904" y="2084832"/>
            <a:ext cx="2788920" cy="329184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接入施工日志、现场照片、项目进度、班组人员、材料进场和设备使用数据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输出：施工日志、现场记录摘要、明日计划建议、施工问题清单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11155680" y="6492240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29</a:t>
            </a:r>
            <a:endParaRPr lang="en-US" sz="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3093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岗位型 AI 工作助手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11201400" cy="0"/>
          </a:xfrm>
          <a:prstGeom prst="line">
            <a:avLst/>
          </a:prstGeom>
          <a:noFill/>
          <a:ln w="10160">
            <a:solidFill>
              <a:srgbClr val="DDE5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资料员 AI 助手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3429000" cy="48006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370832" y="1325880"/>
            <a:ext cx="3429000" cy="48006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101584" y="1325880"/>
            <a:ext cx="3429000" cy="48006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1600200"/>
            <a:ext cx="45720" cy="228600"/>
          </a:xfrm>
          <a:prstGeom prst="rect">
            <a:avLst/>
          </a:prstGeom>
          <a:solidFill>
            <a:srgbClr val="1769E0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591056"/>
            <a:ext cx="281635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6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关注内容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45152" y="1600200"/>
            <a:ext cx="45720" cy="228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591056"/>
            <a:ext cx="281635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AI辅助内容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375904" y="1600200"/>
            <a:ext cx="4572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85632" y="1591056"/>
            <a:ext cx="281635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落地实现 / 输出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2084832"/>
            <a:ext cx="2788920" cy="329184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项目资料上传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安全资料归档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会议纪要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施工日志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签字文件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证书文件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验收资料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文件命名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资料分类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缺失资料检查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45152" y="2084832"/>
            <a:ext cx="2788920" cy="329184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识别文件类型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提取标题、日期、项目名称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生成资料摘要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判断归档目录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检查资料缺失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生成会议纪要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生成资料目录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提醒未归档资料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检查签字页是否存在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375904" y="2084832"/>
            <a:ext cx="2788920" cy="329184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流程：文件上传 → OCR识别 → 文档解析 → 大模型分类 → 字段提取 → 摘要生成 → 人工确认归档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输出：资料分类、摘要、归档建议、缺失资料提醒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11155680" y="6492240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30</a:t>
            </a:r>
            <a:endParaRPr lang="en-US" sz="7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3093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岗位型 AI 工作助手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11201400" cy="0"/>
          </a:xfrm>
          <a:prstGeom prst="line">
            <a:avLst/>
          </a:prstGeom>
          <a:noFill/>
          <a:ln w="10160">
            <a:solidFill>
              <a:srgbClr val="DDE5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材料员 AI 助手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3429000" cy="48006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370832" y="1325880"/>
            <a:ext cx="3429000" cy="48006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101584" y="1325880"/>
            <a:ext cx="3429000" cy="48006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1600200"/>
            <a:ext cx="45720" cy="228600"/>
          </a:xfrm>
          <a:prstGeom prst="rect">
            <a:avLst/>
          </a:prstGeom>
          <a:solidFill>
            <a:srgbClr val="1769E0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591056"/>
            <a:ext cx="281635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6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关注内容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45152" y="1600200"/>
            <a:ext cx="45720" cy="228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591056"/>
            <a:ext cx="281635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AI辅助内容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375904" y="1600200"/>
            <a:ext cx="4572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85632" y="1591056"/>
            <a:ext cx="281635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落地实现 / 输出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2084832"/>
            <a:ext cx="2788920" cy="329184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材料进场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材料验收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材料库存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材料领用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材料消耗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供应商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合格证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检测报告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材料计划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45152" y="2084832"/>
            <a:ext cx="2788920" cy="329184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识别材料合格证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提取材料名称、规格、数量、供应商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归档材料资料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分析计划与实际偏差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提醒库存不足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生成材料进场记录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生成材料月报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375904" y="2084832"/>
            <a:ext cx="2788920" cy="329184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先从材料合格证、检测报告等资料识别切入；后续接入材料台账后分析库存、领用、消耗、供应风险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输出：材料资料归档、材料信息提取、材料月报、消耗分析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11155680" y="6492240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31</a:t>
            </a:r>
            <a:endParaRPr lang="en-US" sz="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3093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岗位型 AI 工作助手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11201400" cy="0"/>
          </a:xfrm>
          <a:prstGeom prst="line">
            <a:avLst/>
          </a:prstGeom>
          <a:noFill/>
          <a:ln w="10160">
            <a:solidFill>
              <a:srgbClr val="DDE5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机械员 AI 助手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3429000" cy="48006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370832" y="1325880"/>
            <a:ext cx="3429000" cy="48006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101584" y="1325880"/>
            <a:ext cx="3429000" cy="48006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1600200"/>
            <a:ext cx="45720" cy="228600"/>
          </a:xfrm>
          <a:prstGeom prst="rect">
            <a:avLst/>
          </a:prstGeom>
          <a:solidFill>
            <a:srgbClr val="1769E0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591056"/>
            <a:ext cx="281635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6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关注内容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45152" y="1600200"/>
            <a:ext cx="45720" cy="228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591056"/>
            <a:ext cx="281635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AI辅助内容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375904" y="1600200"/>
            <a:ext cx="4572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85632" y="1591056"/>
            <a:ext cx="281635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落地实现 / 输出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2084832"/>
            <a:ext cx="2788920" cy="329184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塔吊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人货梯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施工机器人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机械设备状态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设备维保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设备告警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设备巡检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设备使用记录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45152" y="2084832"/>
            <a:ext cx="2788920" cy="329184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分析设备在线状态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提醒设备维保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生成设备巡检记录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汇总设备异常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分析塔吊摄像头在线率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生成机械设备日报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判断设备长时间未上报风险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375904" y="2084832"/>
            <a:ext cx="2788920" cy="329184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接入设备台账、在线状态、最近上报时间、异常状态、维保记录和塔吊系统接口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输出：设备异常摘要、维保提醒、设备日报、风险排序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11155680" y="6492240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32</a:t>
            </a:r>
            <a:endParaRPr lang="en-US" sz="7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3093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岗位型 AI 工作助手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11201400" cy="0"/>
          </a:xfrm>
          <a:prstGeom prst="line">
            <a:avLst/>
          </a:prstGeom>
          <a:noFill/>
          <a:ln w="10160">
            <a:solidFill>
              <a:srgbClr val="DDE5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劳务员 AI 助手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3429000" cy="48006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370832" y="1325880"/>
            <a:ext cx="3429000" cy="48006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101584" y="1325880"/>
            <a:ext cx="3429000" cy="48006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1600200"/>
            <a:ext cx="45720" cy="228600"/>
          </a:xfrm>
          <a:prstGeom prst="rect">
            <a:avLst/>
          </a:prstGeom>
          <a:solidFill>
            <a:srgbClr val="1769E0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591056"/>
            <a:ext cx="281635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6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关注内容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45152" y="1600200"/>
            <a:ext cx="45720" cy="228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591056"/>
            <a:ext cx="281635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AI辅助内容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375904" y="1600200"/>
            <a:ext cx="4572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85632" y="1591056"/>
            <a:ext cx="281635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落地实现 / 输出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2084832"/>
            <a:ext cx="2788920" cy="329184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工人实名制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班组人员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进退场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考勤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临时人员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工种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劳务单位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人员证件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安全教育状态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45152" y="2084832"/>
            <a:ext cx="2788920" cy="329184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核对人员信息是否完整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提醒证件缺失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提醒人员未完成安全教育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生成班组人员统计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分析人员进出异常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生成劳务人员日报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375904" y="2084832"/>
            <a:ext cx="2788920" cy="329184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接入临时人员管理、原人员系统入口、实名制数据、班组数据、安全教育数据和考勤数据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输出：人员状态摘要、未教育提醒、班组统计、劳务日报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11155680" y="6492240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33</a:t>
            </a:r>
            <a:endParaRPr lang="en-US" sz="7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3093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岗位型 AI 工作助手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11201400" cy="0"/>
          </a:xfrm>
          <a:prstGeom prst="line">
            <a:avLst/>
          </a:prstGeom>
          <a:noFill/>
          <a:ln w="10160">
            <a:solidFill>
              <a:srgbClr val="DDE5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标准员 AI 助手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3429000" cy="48006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370832" y="1325880"/>
            <a:ext cx="3429000" cy="48006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101584" y="1325880"/>
            <a:ext cx="3429000" cy="48006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1600200"/>
            <a:ext cx="45720" cy="228600"/>
          </a:xfrm>
          <a:prstGeom prst="rect">
            <a:avLst/>
          </a:prstGeom>
          <a:solidFill>
            <a:srgbClr val="1769E0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591056"/>
            <a:ext cx="281635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6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关注内容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45152" y="1600200"/>
            <a:ext cx="45720" cy="228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591056"/>
            <a:ext cx="281635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AI辅助内容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375904" y="1600200"/>
            <a:ext cx="4572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85632" y="1591056"/>
            <a:ext cx="281635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落地实现 / 输出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2084832"/>
            <a:ext cx="2788920" cy="329184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标准规范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制度文件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施工标准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质量安全标准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操作规程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资料格式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检查要求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45152" y="2084832"/>
            <a:ext cx="2788920" cy="329184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查询标准规范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回答制度类问题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生成检查清单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提醒资料格式不规范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将政策文件转成操作步骤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形成项目标准化检查表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375904" y="2084832"/>
            <a:ext cx="2788920" cy="329184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建立政策、监管通知、视频接入手册、公司制度、项目管理标准、系统操作手册知识库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输出：规范问答、检查清单、制度解读、操作流程指引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11155680" y="6492240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34</a:t>
            </a:r>
            <a:endParaRPr lang="en-US" sz="7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3093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岗位型 AI 工作助手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11201400" cy="0"/>
          </a:xfrm>
          <a:prstGeom prst="line">
            <a:avLst/>
          </a:prstGeom>
          <a:noFill/>
          <a:ln w="10160">
            <a:solidFill>
              <a:srgbClr val="DDE5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技术负责人 / 项目总工 AI 助手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3429000" cy="48006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370832" y="1325880"/>
            <a:ext cx="3429000" cy="48006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101584" y="1325880"/>
            <a:ext cx="3429000" cy="48006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1600200"/>
            <a:ext cx="45720" cy="228600"/>
          </a:xfrm>
          <a:prstGeom prst="rect">
            <a:avLst/>
          </a:prstGeom>
          <a:solidFill>
            <a:srgbClr val="1769E0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591056"/>
            <a:ext cx="281635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6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关注内容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45152" y="1600200"/>
            <a:ext cx="45720" cy="228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591056"/>
            <a:ext cx="281635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AI辅助内容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375904" y="1600200"/>
            <a:ext cx="4572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85632" y="1591056"/>
            <a:ext cx="281635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落地实现 / 输出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2084832"/>
            <a:ext cx="2788920" cy="329184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施工方案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技术交底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图纸问题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BIM模型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质量技术问题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方案变更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技术资料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危大工程方案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45152" y="2084832"/>
            <a:ext cx="2788920" cy="329184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整理技术交底初稿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生成方案摘要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提取图纸/方案重点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生成危大工程检查清单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辅助技术资料归档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回答方案相关问题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生成技术会议纪要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辅助BIM模型问答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375904" y="2084832"/>
            <a:ext cx="2788920" cy="329184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接入施工方案、技术交底、图纸资料、会议纪要、BIM模型和危大工程资料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输出：方案摘要、技术交底初稿、危大工程检查清单、技术会议纪要、BIM问答结果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11155680" y="6492240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35</a:t>
            </a:r>
            <a:endParaRPr lang="en-US" sz="7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3093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岗位型 AI 工作助手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11201400" cy="0"/>
          </a:xfrm>
          <a:prstGeom prst="line">
            <a:avLst/>
          </a:prstGeom>
          <a:noFill/>
          <a:ln w="10160">
            <a:solidFill>
              <a:srgbClr val="DDE5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管理层 AI 助手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3429000" cy="48006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370832" y="1325880"/>
            <a:ext cx="3429000" cy="48006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101584" y="1325880"/>
            <a:ext cx="3429000" cy="48006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1600200"/>
            <a:ext cx="45720" cy="228600"/>
          </a:xfrm>
          <a:prstGeom prst="rect">
            <a:avLst/>
          </a:prstGeom>
          <a:solidFill>
            <a:srgbClr val="1769E0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591056"/>
            <a:ext cx="281635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6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关注内容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45152" y="1600200"/>
            <a:ext cx="45720" cy="228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591056"/>
            <a:ext cx="281635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AI辅助内容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375904" y="1600200"/>
            <a:ext cx="4572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85632" y="1591056"/>
            <a:ext cx="281635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落地实现 / 输出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2084832"/>
            <a:ext cx="2788920" cy="329184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多个项目整体情况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项目风险排序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视频接入不合规项目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安全教育滞后项目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设备异常项目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本周运行情况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重点督办项目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45152" y="2084832"/>
            <a:ext cx="2788920" cy="329184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生成多项目运行总览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生成项目风险排名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生成领导汇报稿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汇总本周重点问题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输出督办建议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分析项目趋势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375904" y="2084832"/>
            <a:ext cx="2788920" cy="329184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接口：/api/v1/ai/management/overview，返回项目总数、异常项目、低在线率、安全教育异常、资料缺失和未闭环整改任务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输出：多项目运行摘要、风险排行榜、督办建议、领导汇报稿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11155680" y="6492240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36</a:t>
            </a:r>
            <a:endParaRPr lang="en-US" sz="7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143000"/>
            <a:ext cx="11887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FD8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874520"/>
            <a:ext cx="941832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系统落地支撑机制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13232" y="2788920"/>
            <a:ext cx="8961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7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确保 AI 能力安全、可控、可集成、可闭环。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13232" y="3401568"/>
            <a:ext cx="4206240" cy="0"/>
          </a:xfrm>
          <a:prstGeom prst="line">
            <a:avLst/>
          </a:prstGeom>
          <a:noFill/>
          <a:ln w="3175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0" y="6492240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37</a:t>
            </a:r>
            <a:endParaRPr lang="en-US" sz="7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3093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 系统落地支撑机制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11201400" cy="0"/>
          </a:xfrm>
          <a:prstGeom prst="line">
            <a:avLst/>
          </a:prstGeom>
          <a:noFill/>
          <a:ln w="10160">
            <a:solidFill>
              <a:srgbClr val="DDE5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AI不直接访问数据库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534924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172200" y="1417320"/>
            <a:ext cx="534924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1673352"/>
            <a:ext cx="45720" cy="228600"/>
          </a:xfrm>
          <a:prstGeom prst="rect">
            <a:avLst/>
          </a:prstGeom>
          <a:solidFill>
            <a:srgbClr val="1769E0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1664208"/>
            <a:ext cx="459943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6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正确查询方式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46520" y="1673352"/>
            <a:ext cx="45720" cy="228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56248" y="1664208"/>
            <a:ext cx="459943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设计价值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87552" y="2148840"/>
            <a:ext cx="4681728" cy="352044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用户提问后，AI先识别意图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AI调用后端授权接口获取数据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后端校验用户权限和项目权限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后端过滤敏感字段并返回必要数据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AI基于返回结果生成回答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6473952" y="2148840"/>
            <a:ext cx="4681728" cy="352044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保证用户权限可控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保证项目数据隔离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避免敏感字段暴露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避免AI生成SQL造成系统风险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让AI回答具备数据来源</a:t>
            </a:r>
            <a:endParaRPr lang="en-US" sz="1280" dirty="0"/>
          </a:p>
        </p:txBody>
      </p:sp>
      <p:sp>
        <p:nvSpPr>
          <p:cNvPr id="13" name="Text 11"/>
          <p:cNvSpPr/>
          <p:nvPr/>
        </p:nvSpPr>
        <p:spPr>
          <a:xfrm>
            <a:off x="11155680" y="6492240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38</a:t>
            </a:r>
            <a:endParaRPr lang="en-US" sz="7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3093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 系统落地支撑机制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11201400" cy="0"/>
          </a:xfrm>
          <a:prstGeom prst="line">
            <a:avLst/>
          </a:prstGeom>
          <a:noFill/>
          <a:ln w="10160">
            <a:solidFill>
              <a:srgbClr val="DDE5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AI输出保留人工确认机制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534924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172200" y="1417320"/>
            <a:ext cx="534924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1673352"/>
            <a:ext cx="45720" cy="228600"/>
          </a:xfrm>
          <a:prstGeom prst="rect">
            <a:avLst/>
          </a:prstGeom>
          <a:solidFill>
            <a:srgbClr val="1769E0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1664208"/>
            <a:ext cx="459943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6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系统闭环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46520" y="1673352"/>
            <a:ext cx="45720" cy="228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56248" y="1664208"/>
            <a:ext cx="459943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边界说明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87552" y="2148840"/>
            <a:ext cx="4681728" cy="352044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AI分析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人工确认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任务派发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整改反馈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归档留痕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6473952" y="2148840"/>
            <a:ext cx="4681728" cy="352044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AI辅助查询数据、整理资料、生成摘要、初步识别异常、生成报告、提出建议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安全责任判断、重大隐患定性、监管正式申报、施工方案审批、最终验收结论等仍由人工确认</a:t>
            </a:r>
            <a:endParaRPr lang="en-US" sz="1280" dirty="0"/>
          </a:p>
        </p:txBody>
      </p:sp>
      <p:sp>
        <p:nvSpPr>
          <p:cNvPr id="13" name="Text 11"/>
          <p:cNvSpPr/>
          <p:nvPr/>
        </p:nvSpPr>
        <p:spPr>
          <a:xfrm>
            <a:off x="11155680" y="6492240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39</a:t>
            </a:r>
            <a:endParaRPr lang="en-US" sz="7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3093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 系统落地支撑机制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11201400" cy="0"/>
          </a:xfrm>
          <a:prstGeom prst="line">
            <a:avLst/>
          </a:prstGeom>
          <a:noFill/>
          <a:ln w="10160">
            <a:solidFill>
              <a:srgbClr val="DDE5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AI能力嵌入业务页面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534924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172200" y="1417320"/>
            <a:ext cx="534924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1673352"/>
            <a:ext cx="45720" cy="228600"/>
          </a:xfrm>
          <a:prstGeom prst="rect">
            <a:avLst/>
          </a:prstGeom>
          <a:solidFill>
            <a:srgbClr val="1769E0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1664208"/>
            <a:ext cx="459943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6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嵌入位置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46520" y="1673352"/>
            <a:ext cx="45720" cy="228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56248" y="1664208"/>
            <a:ext cx="459943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设计原则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87552" y="2148840"/>
            <a:ext cx="4681728" cy="352044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项目概况页：AI项目简报、AI风险分析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设备与监控页：AI视频合规检查、摄像头异常分析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人员与安全页：AI安全教育检查、安全日报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资料管理页：AI资料识别、归档建议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地图大屏页：AI多项目风险摘要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管理驾驶舱：AI领导汇报、督办建议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6473952" y="2148840"/>
            <a:ext cx="4681728" cy="352044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AI不作为孤立功能建设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AI跟随用户角色和业务场景出现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在业务流程节点提供辅助能力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结果可确认、可修改、可归档、可追溯</a:t>
            </a:r>
            <a:endParaRPr lang="en-US" sz="1280" dirty="0"/>
          </a:p>
        </p:txBody>
      </p:sp>
      <p:sp>
        <p:nvSpPr>
          <p:cNvPr id="13" name="Text 11"/>
          <p:cNvSpPr/>
          <p:nvPr/>
        </p:nvSpPr>
        <p:spPr>
          <a:xfrm>
            <a:off x="11155680" y="6492240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40</a:t>
            </a:r>
            <a:endParaRPr lang="en-US" sz="7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3093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 系统落地支撑机制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11201400" cy="0"/>
          </a:xfrm>
          <a:prstGeom prst="line">
            <a:avLst/>
          </a:prstGeom>
          <a:noFill/>
          <a:ln w="10160">
            <a:solidFill>
              <a:srgbClr val="DDE5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AI能力落地所需基础条件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" y="1389888"/>
            <a:ext cx="3246120" cy="470916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664208"/>
            <a:ext cx="45720" cy="228600"/>
          </a:xfrm>
          <a:prstGeom prst="rect">
            <a:avLst/>
          </a:prstGeom>
          <a:solidFill>
            <a:srgbClr val="1769E0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655064"/>
            <a:ext cx="263347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6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数据基础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157984"/>
            <a:ext cx="2606040" cy="361188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项目、视频、人员、安全、资料、设备等业务数据结构化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摄像头、资料、设备、整改任务等台账完整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业务数据需要具备项目ID、时间、状态、责任人等关键字段</a:t>
            </a:r>
            <a:endParaRPr lang="en-US" sz="1140" dirty="0"/>
          </a:p>
        </p:txBody>
      </p:sp>
      <p:sp>
        <p:nvSpPr>
          <p:cNvPr id="9" name="Shape 7"/>
          <p:cNvSpPr/>
          <p:nvPr/>
        </p:nvSpPr>
        <p:spPr>
          <a:xfrm>
            <a:off x="4160520" y="1389888"/>
            <a:ext cx="3246120" cy="470916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34840" y="1664208"/>
            <a:ext cx="45720" cy="228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1655064"/>
            <a:ext cx="263347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接口基础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80560" y="2157984"/>
            <a:ext cx="2606040" cy="361188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AI查询通过后端授权接口完成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每类AI功能需要对应查询工具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接口只返回必要字段，不返回敏感信息</a:t>
            </a:r>
            <a:endParaRPr lang="en-US" sz="1140" dirty="0"/>
          </a:p>
        </p:txBody>
      </p:sp>
      <p:sp>
        <p:nvSpPr>
          <p:cNvPr id="13" name="Shape 11"/>
          <p:cNvSpPr/>
          <p:nvPr/>
        </p:nvSpPr>
        <p:spPr>
          <a:xfrm>
            <a:off x="7726680" y="1389888"/>
            <a:ext cx="3246120" cy="470916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01000" y="1664208"/>
            <a:ext cx="4572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10728" y="1655064"/>
            <a:ext cx="263347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流程基础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0" y="2157984"/>
            <a:ext cx="2606040" cy="361188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AI结果进入人工确认流程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问题进入整改任务闭环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报告和资料支持保存归档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操作和生成结果保留日志</a:t>
            </a:r>
            <a:endParaRPr lang="en-US" sz="1140" dirty="0"/>
          </a:p>
        </p:txBody>
      </p:sp>
      <p:sp>
        <p:nvSpPr>
          <p:cNvPr id="17" name="Text 15"/>
          <p:cNvSpPr/>
          <p:nvPr/>
        </p:nvSpPr>
        <p:spPr>
          <a:xfrm>
            <a:off x="11155680" y="6492240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41</a:t>
            </a:r>
            <a:endParaRPr lang="en-US" sz="7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7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274A"/>
          </a:solidFill>
          <a:ln w="12700">
            <a:solidFill>
              <a:srgbClr val="0927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143000"/>
            <a:ext cx="11887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FD8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874520"/>
            <a:ext cx="941832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总体汇报口径与内容核对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13232" y="2788920"/>
            <a:ext cx="8961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7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面向甲方形成可汇报、可理解、可落地的 AI 智慧大脑能力全景。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13232" y="3401568"/>
            <a:ext cx="4206240" cy="0"/>
          </a:xfrm>
          <a:prstGeom prst="line">
            <a:avLst/>
          </a:prstGeom>
          <a:noFill/>
          <a:ln w="3175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0" y="6492240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42</a:t>
            </a:r>
            <a:endParaRPr lang="en-US" sz="7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3093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 总体汇报口径与内容核对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11201400" cy="0"/>
          </a:xfrm>
          <a:prstGeom prst="line">
            <a:avLst/>
          </a:prstGeom>
          <a:noFill/>
          <a:ln w="10160">
            <a:solidFill>
              <a:srgbClr val="DDE5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总体汇报口径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10607040" cy="452628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我们建议后续平台中的AI能力按照“智慧大脑 + 岗位助手”的方式建设。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智慧大脑统一接入项目、视频、人员、安全、资料、设备、BIM、智能装备等多源数据。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岗位助手把AI能力落实到项目经理、安全员、资料员、施工员、质量员、机械员、劳务员、标准员和管理层的实际工作场景中。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平台未来将具备能问、能查、能总结、能检查、能提醒、能分析、能生成报告、能提出整改建议、能沉淀项目知识、能辅助多项目管理决策的能力。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155680" y="6492240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43</a:t>
            </a:r>
            <a:endParaRPr lang="en-US" sz="7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3093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 总体汇报口径与内容核对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11201400" cy="0"/>
          </a:xfrm>
          <a:prstGeom prst="line">
            <a:avLst/>
          </a:prstGeom>
          <a:noFill/>
          <a:ln w="10160">
            <a:solidFill>
              <a:srgbClr val="DDE5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未来系统可形成的能力全景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" y="1389888"/>
            <a:ext cx="3246120" cy="470916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664208"/>
            <a:ext cx="45720" cy="228600"/>
          </a:xfrm>
          <a:prstGeom prst="rect">
            <a:avLst/>
          </a:prstGeom>
          <a:solidFill>
            <a:srgbClr val="1769E0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655064"/>
            <a:ext cx="263347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6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业务管理能力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157984"/>
            <a:ext cx="2606040" cy="361188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项目问答与数据查询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项目简报与领导汇报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人员安全教育核查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资料识别归档与完整性检查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风险预警与整改建议</a:t>
            </a:r>
            <a:endParaRPr lang="en-US" sz="1140" dirty="0"/>
          </a:p>
        </p:txBody>
      </p:sp>
      <p:sp>
        <p:nvSpPr>
          <p:cNvPr id="9" name="Shape 7"/>
          <p:cNvSpPr/>
          <p:nvPr/>
        </p:nvSpPr>
        <p:spPr>
          <a:xfrm>
            <a:off x="4160520" y="1389888"/>
            <a:ext cx="3246120" cy="470916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34840" y="1664208"/>
            <a:ext cx="45720" cy="228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1655064"/>
            <a:ext cx="263347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现场感知能力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80560" y="2157984"/>
            <a:ext cx="2606040" cy="361188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视频接入合规检查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视频流程助手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视频截图巡查说明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安全行为识别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摄像头在线率与画面异常分析</a:t>
            </a:r>
            <a:endParaRPr lang="en-US" sz="1140" dirty="0"/>
          </a:p>
        </p:txBody>
      </p:sp>
      <p:sp>
        <p:nvSpPr>
          <p:cNvPr id="13" name="Shape 11"/>
          <p:cNvSpPr/>
          <p:nvPr/>
        </p:nvSpPr>
        <p:spPr>
          <a:xfrm>
            <a:off x="7726680" y="1389888"/>
            <a:ext cx="3246120" cy="470916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7620">
            <a:solidFill>
              <a:srgbClr val="DDE5F2"/>
            </a:solidFill>
            <a:prstDash val="solid"/>
          </a:ln>
          <a:effectLst>
            <a:outerShdw blurRad="12700" dist="50800" dir="2700000" algn="bl" rotWithShape="0">
              <a:srgbClr val="D9E5F6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01000" y="1664208"/>
            <a:ext cx="4572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10728" y="1655064"/>
            <a:ext cx="2633472" cy="25603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扩展智能能力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0" y="2157984"/>
            <a:ext cx="2606040" cy="361188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AI+BIM虚拟建造助手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AI智能装备分析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设备与塔吊状态分析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知识库问答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多项目管理层助手</a:t>
            </a:r>
            <a:endParaRPr lang="en-US" sz="1140" dirty="0"/>
          </a:p>
        </p:txBody>
      </p:sp>
      <p:sp>
        <p:nvSpPr>
          <p:cNvPr id="17" name="Text 15"/>
          <p:cNvSpPr/>
          <p:nvPr/>
        </p:nvSpPr>
        <p:spPr>
          <a:xfrm>
            <a:off x="11155680" y="6492240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44</a:t>
            </a:r>
            <a:endParaRPr lang="en-US" sz="7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14884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谢谢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13232" y="3063240"/>
            <a:ext cx="8961120" cy="64008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C7D7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智慧大脑的价值，不在于单一功能展示，而在于把项目数据转化为岗位可用的工作辅助、风险判断和管理闭环。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13232" y="4114800"/>
            <a:ext cx="4206240" cy="0"/>
          </a:xfrm>
          <a:prstGeom prst="line">
            <a:avLst/>
          </a:prstGeom>
          <a:noFill/>
          <a:ln w="3175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0" y="6492240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46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10781</Words>
  <Application>WPS 演示</Application>
  <PresentationFormat>On-screen Show (16:9)</PresentationFormat>
  <Paragraphs>1151</Paragraphs>
  <Slides>45</Slides>
  <Notes>46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53" baseType="lpstr">
      <vt:lpstr>Arial</vt:lpstr>
      <vt:lpstr>宋体</vt:lpstr>
      <vt:lpstr>Wingdings</vt:lpstr>
      <vt:lpstr>微软雅黑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智慧建造平台AI智慧大脑应用能力说明</dc:title>
  <dc:creator>OpenAI</dc:creator>
  <dc:subject>智慧建造平台AI智慧大脑应用能力说明</dc:subject>
  <cp:lastModifiedBy>金生</cp:lastModifiedBy>
  <cp:revision>2</cp:revision>
  <dcterms:created xsi:type="dcterms:W3CDTF">2026-05-14T02:47:00Z</dcterms:created>
  <dcterms:modified xsi:type="dcterms:W3CDTF">2026-05-14T03:14:14Z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EAF2A5226BD74D018F8A0AB0363D0F18_12</vt:lpwstr>
  </property>
</Properties>
</file>